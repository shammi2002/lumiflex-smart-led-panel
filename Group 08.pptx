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3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8288000" cy="10287000"/>
  <p:notesSz cx="6858000" cy="9144000"/>
  <p:embeddedFontLst>
    <p:embeddedFont>
      <p:font typeface="TT Firs Neue" panose="02000503030000020004"/>
      <p:regular r:id="rId22"/>
    </p:embeddedFont>
    <p:embeddedFont>
      <p:font typeface="TT Firs Neue Bold" panose="02000803030000020004"/>
      <p:bold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jpe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81001" y="1543935"/>
            <a:ext cx="6492240" cy="0"/>
          </a:xfrm>
          <a:prstGeom prst="line">
            <a:avLst/>
          </a:prstGeom>
          <a:ln w="19050" cap="flat">
            <a:solidFill>
              <a:srgbClr val="545454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0">
            <a:off x="9011249" y="0"/>
            <a:ext cx="9276751" cy="10320855"/>
            <a:chOff x="0" y="0"/>
            <a:chExt cx="9481691" cy="10548861"/>
          </a:xfrm>
        </p:grpSpPr>
        <p:sp>
          <p:nvSpPr>
            <p:cNvPr id="4" name="Freeform 4"/>
            <p:cNvSpPr/>
            <p:nvPr/>
          </p:nvSpPr>
          <p:spPr>
            <a:xfrm>
              <a:off x="61" y="-127"/>
              <a:ext cx="9481630" cy="10548988"/>
            </a:xfrm>
            <a:custGeom>
              <a:avLst/>
              <a:gdLst/>
              <a:ahLst/>
              <a:cxnLst/>
              <a:rect l="l" t="t" r="r" b="b"/>
              <a:pathLst>
                <a:path w="9481630" h="10548988">
                  <a:moveTo>
                    <a:pt x="9481630" y="10512652"/>
                  </a:moveTo>
                  <a:cubicBezTo>
                    <a:pt x="9481630" y="10546644"/>
                    <a:pt x="9469873" y="10548988"/>
                    <a:pt x="9439220" y="10548988"/>
                  </a:cubicBezTo>
                  <a:cubicBezTo>
                    <a:pt x="6293213" y="10548337"/>
                    <a:pt x="3147346" y="10548337"/>
                    <a:pt x="1339" y="10548337"/>
                  </a:cubicBezTo>
                  <a:cubicBezTo>
                    <a:pt x="-2855" y="10534141"/>
                    <a:pt x="3858" y="10521248"/>
                    <a:pt x="7077" y="10508094"/>
                  </a:cubicBezTo>
                  <a:cubicBezTo>
                    <a:pt x="145363" y="9932190"/>
                    <a:pt x="283789" y="9356416"/>
                    <a:pt x="422495" y="8780643"/>
                  </a:cubicBezTo>
                  <a:cubicBezTo>
                    <a:pt x="620267" y="7959764"/>
                    <a:pt x="818458" y="7139018"/>
                    <a:pt x="1016089" y="6318139"/>
                  </a:cubicBezTo>
                  <a:cubicBezTo>
                    <a:pt x="1260190" y="5304382"/>
                    <a:pt x="1503730" y="4290624"/>
                    <a:pt x="1747690" y="3276997"/>
                  </a:cubicBezTo>
                  <a:cubicBezTo>
                    <a:pt x="1995569" y="2247220"/>
                    <a:pt x="2243588" y="1217574"/>
                    <a:pt x="2492167" y="187927"/>
                  </a:cubicBezTo>
                  <a:cubicBezTo>
                    <a:pt x="2507283" y="125284"/>
                    <a:pt x="2516941" y="61208"/>
                    <a:pt x="2541435" y="648"/>
                  </a:cubicBezTo>
                  <a:cubicBezTo>
                    <a:pt x="4840790" y="648"/>
                    <a:pt x="7140145" y="648"/>
                    <a:pt x="9439500" y="0"/>
                  </a:cubicBezTo>
                  <a:cubicBezTo>
                    <a:pt x="9470713" y="0"/>
                    <a:pt x="9481349" y="3513"/>
                    <a:pt x="9481349" y="36723"/>
                  </a:cubicBezTo>
                  <a:cubicBezTo>
                    <a:pt x="9480510" y="3528743"/>
                    <a:pt x="9480510" y="7020763"/>
                    <a:pt x="9481630" y="10512652"/>
                  </a:cubicBezTo>
                  <a:close/>
                </a:path>
              </a:pathLst>
            </a:custGeom>
            <a:blipFill>
              <a:blip r:embed="rId1"/>
              <a:stretch>
                <a:fillRect l="-5630" t="-1" r="-5629" b="-1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0">
            <a:off x="1448924" y="5944175"/>
            <a:ext cx="7562325" cy="646356"/>
            <a:chOff x="0" y="0"/>
            <a:chExt cx="1991723" cy="1702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91723" cy="170234"/>
            </a:xfrm>
            <a:custGeom>
              <a:avLst/>
              <a:gdLst/>
              <a:ahLst/>
              <a:cxnLst/>
              <a:rect l="l" t="t" r="r" b="b"/>
              <a:pathLst>
                <a:path w="1991723" h="170234">
                  <a:moveTo>
                    <a:pt x="0" y="0"/>
                  </a:moveTo>
                  <a:lnTo>
                    <a:pt x="1991723" y="0"/>
                  </a:lnTo>
                  <a:lnTo>
                    <a:pt x="1991723" y="170234"/>
                  </a:lnTo>
                  <a:lnTo>
                    <a:pt x="0" y="170234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991723" cy="2178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3424039" y="8633448"/>
            <a:ext cx="1956962" cy="646356"/>
            <a:chOff x="0" y="0"/>
            <a:chExt cx="515414" cy="17023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15414" cy="170234"/>
            </a:xfrm>
            <a:custGeom>
              <a:avLst/>
              <a:gdLst/>
              <a:ahLst/>
              <a:cxnLst/>
              <a:rect l="l" t="t" r="r" b="b"/>
              <a:pathLst>
                <a:path w="515414" h="170234">
                  <a:moveTo>
                    <a:pt x="0" y="0"/>
                  </a:moveTo>
                  <a:lnTo>
                    <a:pt x="515414" y="0"/>
                  </a:lnTo>
                  <a:lnTo>
                    <a:pt x="515414" y="170234"/>
                  </a:lnTo>
                  <a:lnTo>
                    <a:pt x="0" y="170234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15414" cy="2178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99501" y="3009331"/>
            <a:ext cx="8880186" cy="192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LumiFlex</a:t>
            </a:r>
            <a:endParaRPr lang="en-US" sz="6800" spc="-374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Smart LED Panel</a:t>
            </a:r>
            <a:endParaRPr lang="en-US" sz="6800" spc="-374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543719" y="6040658"/>
            <a:ext cx="737273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Inn</a:t>
            </a:r>
            <a:r>
              <a:rPr lang="en-US" sz="2400">
                <a:solidFill>
                  <a:srgbClr val="FFFFFF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ovating the Future – Bringing Ideas to Life</a:t>
            </a:r>
            <a:endParaRPr lang="en-US" sz="2400">
              <a:solidFill>
                <a:srgbClr val="FFFFFF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48924" y="8758163"/>
            <a:ext cx="2195335" cy="34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P</a:t>
            </a:r>
            <a:r>
              <a:rPr lang="en-US" sz="20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resented By:</a:t>
            </a:r>
            <a:endParaRPr lang="en-US" sz="20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644259" y="8729930"/>
            <a:ext cx="219533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Group 08</a:t>
            </a:r>
            <a:endParaRPr lang="en-US" sz="2400">
              <a:solidFill>
                <a:srgbClr val="FFFFFF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1920240" y="2402840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558195" y="2537406"/>
            <a:ext cx="3730123" cy="5507676"/>
            <a:chOff x="0" y="0"/>
            <a:chExt cx="982419" cy="14505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2419" cy="1450581"/>
            </a:xfrm>
            <a:custGeom>
              <a:avLst/>
              <a:gdLst/>
              <a:ahLst/>
              <a:cxnLst/>
              <a:rect l="l" t="t" r="r" b="b"/>
              <a:pathLst>
                <a:path w="982419" h="1450581">
                  <a:moveTo>
                    <a:pt x="0" y="0"/>
                  </a:moveTo>
                  <a:lnTo>
                    <a:pt x="982419" y="0"/>
                  </a:lnTo>
                  <a:lnTo>
                    <a:pt x="982419" y="1450581"/>
                  </a:lnTo>
                  <a:lnTo>
                    <a:pt x="0" y="1450581"/>
                  </a:lnTo>
                  <a:close/>
                </a:path>
              </a:pathLst>
            </a:custGeom>
            <a:solidFill>
              <a:srgbClr val="A6A6A6">
                <a:alpha val="57647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82419" cy="1498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9314956" y="1355661"/>
            <a:ext cx="667151" cy="667151"/>
          </a:xfrm>
          <a:custGeom>
            <a:avLst/>
            <a:gdLst/>
            <a:ahLst/>
            <a:cxnLst/>
            <a:rect l="l" t="t" r="r" b="b"/>
            <a:pathLst>
              <a:path w="667151" h="667151">
                <a:moveTo>
                  <a:pt x="0" y="0"/>
                </a:moveTo>
                <a:lnTo>
                  <a:pt x="667152" y="0"/>
                </a:lnTo>
                <a:lnTo>
                  <a:pt x="667152" y="667151"/>
                </a:lnTo>
                <a:lnTo>
                  <a:pt x="0" y="66715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314956" y="3130357"/>
            <a:ext cx="667151" cy="667151"/>
          </a:xfrm>
          <a:custGeom>
            <a:avLst/>
            <a:gdLst/>
            <a:ahLst/>
            <a:cxnLst/>
            <a:rect l="l" t="t" r="r" b="b"/>
            <a:pathLst>
              <a:path w="667151" h="667151">
                <a:moveTo>
                  <a:pt x="0" y="0"/>
                </a:moveTo>
                <a:lnTo>
                  <a:pt x="667152" y="0"/>
                </a:lnTo>
                <a:lnTo>
                  <a:pt x="667152" y="667151"/>
                </a:lnTo>
                <a:lnTo>
                  <a:pt x="0" y="66715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314956" y="4907502"/>
            <a:ext cx="667151" cy="667151"/>
          </a:xfrm>
          <a:custGeom>
            <a:avLst/>
            <a:gdLst/>
            <a:ahLst/>
            <a:cxnLst/>
            <a:rect l="l" t="t" r="r" b="b"/>
            <a:pathLst>
              <a:path w="667151" h="667151">
                <a:moveTo>
                  <a:pt x="0" y="0"/>
                </a:moveTo>
                <a:lnTo>
                  <a:pt x="667152" y="0"/>
                </a:lnTo>
                <a:lnTo>
                  <a:pt x="667152" y="667152"/>
                </a:lnTo>
                <a:lnTo>
                  <a:pt x="0" y="66715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0">
            <a:off x="937031" y="3414208"/>
            <a:ext cx="6127561" cy="4036476"/>
            <a:chOff x="0" y="0"/>
            <a:chExt cx="1081392" cy="7123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81392" cy="712358"/>
            </a:xfrm>
            <a:custGeom>
              <a:avLst/>
              <a:gdLst/>
              <a:ahLst/>
              <a:cxnLst/>
              <a:rect l="l" t="t" r="r" b="b"/>
              <a:pathLst>
                <a:path w="1081392" h="712358">
                  <a:moveTo>
                    <a:pt x="0" y="0"/>
                  </a:moveTo>
                  <a:lnTo>
                    <a:pt x="1081392" y="0"/>
                  </a:lnTo>
                  <a:lnTo>
                    <a:pt x="1081392" y="712358"/>
                  </a:lnTo>
                  <a:lnTo>
                    <a:pt x="0" y="712358"/>
                  </a:lnTo>
                  <a:close/>
                </a:path>
              </a:pathLst>
            </a:custGeom>
            <a:blipFill>
              <a:blip r:embed="rId3">
                <a:alphaModFix amt="73000"/>
              </a:blip>
              <a:stretch>
                <a:fillRect t="-664" b="-664"/>
              </a:stretch>
            </a:blipFill>
          </p:spPr>
        </p:sp>
      </p:grpSp>
      <p:sp>
        <p:nvSpPr>
          <p:cNvPr id="10" name="AutoShape 10"/>
          <p:cNvSpPr/>
          <p:nvPr/>
        </p:nvSpPr>
        <p:spPr>
          <a:xfrm flipV="1">
            <a:off x="1939517" y="9555565"/>
            <a:ext cx="13237959" cy="9525"/>
          </a:xfrm>
          <a:prstGeom prst="line">
            <a:avLst/>
          </a:prstGeom>
          <a:ln w="19050" cap="flat">
            <a:solidFill>
              <a:srgbClr val="545454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347308" y="1192052"/>
            <a:ext cx="6320730" cy="784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spc="-275">
                <a:solidFill>
                  <a:srgbClr val="0B0A0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Key Features</a:t>
            </a:r>
            <a:endParaRPr lang="en-US" sz="5000" spc="-275">
              <a:solidFill>
                <a:srgbClr val="0B0A0A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529546" y="3530871"/>
            <a:ext cx="6930655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Th</a:t>
            </a:r>
            <a:r>
              <a:rPr lang="en-US" sz="20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e system feat</a:t>
            </a:r>
            <a:r>
              <a:rPr lang="en-US" sz="20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ures two LED channels (warm and cool white), allowing users to adjust the color temperature in stepless adjustments to suit different environments or moods</a:t>
            </a:r>
            <a:endParaRPr lang="en-US" sz="20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476922" y="1868308"/>
            <a:ext cx="6782378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Ut</a:t>
            </a:r>
            <a:r>
              <a:rPr lang="en-US" sz="20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ilizes smooth, flicker-free PWM (Pulse Width Modulation) dimmi</a:t>
            </a:r>
            <a:r>
              <a:rPr lang="en-US" sz="20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ng to provide customizable light intensity while maintaining eye comfort and stability.</a:t>
            </a:r>
            <a:endParaRPr lang="en-US" sz="20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476922" y="5400310"/>
            <a:ext cx="6782378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 It us</a:t>
            </a:r>
            <a:r>
              <a:rPr lang="en-US" sz="20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es an ESP32 MCU </a:t>
            </a:r>
            <a:r>
              <a:rPr lang="en-US" sz="20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 to receive commands from the app and generate the necessary PWM signals for lighting control.</a:t>
            </a:r>
            <a:endParaRPr lang="en-US" sz="20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529546" y="3134913"/>
            <a:ext cx="4894736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T Firs Neue Bold" panose="02000803030000020004"/>
                <a:ea typeface="TT Firs Neue Bold" panose="02000803030000020004"/>
                <a:cs typeface="TT Firs Neue Bold" panose="02000803030000020004"/>
                <a:sym typeface="TT Firs Neue Bold" panose="02000803030000020004"/>
              </a:rPr>
              <a:t>Adjustable Color-Temperature</a:t>
            </a:r>
            <a:endParaRPr lang="en-US" sz="2400" b="1">
              <a:solidFill>
                <a:srgbClr val="000000"/>
              </a:solidFill>
              <a:latin typeface="TT Firs Neue Bold" panose="02000803030000020004"/>
              <a:ea typeface="TT Firs Neue Bold" panose="02000803030000020004"/>
              <a:cs typeface="TT Firs Neue Bold" panose="02000803030000020004"/>
              <a:sym typeface="TT Firs Neue Bold" panose="020008030300000200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476922" y="1360150"/>
            <a:ext cx="406245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T Firs Neue Bold" panose="02000803030000020004"/>
                <a:ea typeface="TT Firs Neue Bold" panose="02000803030000020004"/>
                <a:cs typeface="TT Firs Neue Bold" panose="02000803030000020004"/>
                <a:sym typeface="TT Firs Neue Bold" panose="02000803030000020004"/>
              </a:rPr>
              <a:t>Adjustable Brightness</a:t>
            </a:r>
            <a:endParaRPr lang="en-US" sz="2400" b="1">
              <a:solidFill>
                <a:srgbClr val="000000"/>
              </a:solidFill>
              <a:latin typeface="TT Firs Neue Bold" panose="02000803030000020004"/>
              <a:ea typeface="TT Firs Neue Bold" panose="02000803030000020004"/>
              <a:cs typeface="TT Firs Neue Bold" panose="02000803030000020004"/>
              <a:sym typeface="TT Firs Neue Bold" panose="020008030300000200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476922" y="4889770"/>
            <a:ext cx="552410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T Firs Neue Bold" panose="02000803030000020004"/>
                <a:ea typeface="TT Firs Neue Bold" panose="02000803030000020004"/>
                <a:cs typeface="TT Firs Neue Bold" panose="02000803030000020004"/>
                <a:sym typeface="TT Firs Neue Bold" panose="02000803030000020004"/>
              </a:rPr>
              <a:t>Microcontroller Integration</a:t>
            </a:r>
            <a:endParaRPr lang="en-US" sz="2400" b="1">
              <a:solidFill>
                <a:srgbClr val="000000"/>
              </a:solidFill>
              <a:latin typeface="TT Firs Neue Bold" panose="02000803030000020004"/>
              <a:ea typeface="TT Firs Neue Bold" panose="02000803030000020004"/>
              <a:cs typeface="TT Firs Neue Bold" panose="02000803030000020004"/>
              <a:sym typeface="TT Firs Neue Bold" panose="020008030300000200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5512421" y="9409197"/>
            <a:ext cx="97720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Page 01</a:t>
            </a:r>
            <a:endParaRPr lang="en-US" sz="16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432122" y="6754831"/>
            <a:ext cx="4167698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T Firs Neue Bold" panose="02000803030000020004"/>
                <a:ea typeface="TT Firs Neue Bold" panose="02000803030000020004"/>
                <a:cs typeface="TT Firs Neue Bold" panose="02000803030000020004"/>
                <a:sym typeface="TT Firs Neue Bold" panose="02000803030000020004"/>
              </a:rPr>
              <a:t>Smart App Control</a:t>
            </a:r>
            <a:endParaRPr lang="en-US" sz="2400" b="1">
              <a:solidFill>
                <a:srgbClr val="000000"/>
              </a:solidFill>
              <a:latin typeface="TT Firs Neue Bold" panose="02000803030000020004"/>
              <a:ea typeface="TT Firs Neue Bold" panose="02000803030000020004"/>
              <a:cs typeface="TT Firs Neue Bold" panose="02000803030000020004"/>
              <a:sym typeface="TT Firs Neue Bold" panose="020008030300000200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432122" y="7229177"/>
            <a:ext cx="6721045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The LED Panel light </a:t>
            </a:r>
            <a:r>
              <a:rPr lang="en-US" sz="20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is controlled wirelessly via a</a:t>
            </a:r>
            <a:r>
              <a:rPr lang="en-US" sz="20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 mobile application using  Wi-Fi</a:t>
            </a:r>
            <a:endParaRPr lang="en-US" sz="20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9314276" y="6827020"/>
            <a:ext cx="667151" cy="667151"/>
          </a:xfrm>
          <a:custGeom>
            <a:avLst/>
            <a:gdLst/>
            <a:ahLst/>
            <a:cxnLst/>
            <a:rect l="l" t="t" r="r" b="b"/>
            <a:pathLst>
              <a:path w="667151" h="667151">
                <a:moveTo>
                  <a:pt x="0" y="0"/>
                </a:moveTo>
                <a:lnTo>
                  <a:pt x="667151" y="0"/>
                </a:lnTo>
                <a:lnTo>
                  <a:pt x="667151" y="667151"/>
                </a:lnTo>
                <a:lnTo>
                  <a:pt x="0" y="66715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939517" y="9555565"/>
            <a:ext cx="13237959" cy="9525"/>
          </a:xfrm>
          <a:prstGeom prst="line">
            <a:avLst/>
          </a:prstGeom>
          <a:ln w="19050" cap="flat">
            <a:solidFill>
              <a:srgbClr val="545454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230030" y="1585685"/>
            <a:ext cx="7089987" cy="784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spc="-275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Product Specifications</a:t>
            </a:r>
            <a:endParaRPr lang="en-US" sz="5000" spc="-275">
              <a:solidFill>
                <a:srgbClr val="231F2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5512421" y="9409197"/>
            <a:ext cx="97720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Page 02</a:t>
            </a:r>
            <a:endParaRPr lang="en-US" sz="16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graphicFrame>
        <p:nvGraphicFramePr>
          <p:cNvPr id="5" name="Object 5"/>
          <p:cNvGraphicFramePr/>
          <p:nvPr/>
        </p:nvGraphicFramePr>
        <p:xfrm>
          <a:off x="4114703" y="3010118"/>
          <a:ext cx="8862695" cy="4713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Worksheet" r:id="rId1" imgW="11525250" imgH="5657850" progId="Excel.Sheet.12">
                  <p:embed/>
                </p:oleObj>
              </mc:Choice>
              <mc:Fallback>
                <p:oleObj name="Worksheet" r:id="rId1" imgW="11525250" imgH="5657850" progId="Excel.Sheet.12">
                  <p:embed/>
                  <p:pic>
                    <p:nvPicPr>
                      <p:cNvPr id="0" name="Picture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14703" y="3010118"/>
                        <a:ext cx="8862695" cy="4713605"/>
                      </a:xfrm>
                      <a:prstGeom prst="rect">
                        <a:avLst/>
                      </a:prstGeom>
                      <a:ln w="12700" cmpd="sng">
                        <a:solidFill>
                          <a:schemeClr val="accent1">
                            <a:shade val="50000"/>
                          </a:schemeClr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s 6"/>
          <p:cNvSpPr/>
          <p:nvPr/>
        </p:nvSpPr>
        <p:spPr>
          <a:xfrm>
            <a:off x="4191000" y="8191500"/>
            <a:ext cx="8910955" cy="9144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5715000" y="8317230"/>
            <a:ext cx="6096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/>
              <a:t>Total Cost = LKR Rs. 4461</a:t>
            </a:r>
            <a:endParaRPr lang="en-US"/>
          </a:p>
          <a:p>
            <a:pPr algn="ctr"/>
            <a:r>
              <a:rPr lang="en-US"/>
              <a:t>Price LKR Rs. 5000 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4481566" y="-56421"/>
            <a:ext cx="3038915" cy="10675724"/>
            <a:chOff x="0" y="0"/>
            <a:chExt cx="800373" cy="28117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00373" cy="2811713"/>
            </a:xfrm>
            <a:custGeom>
              <a:avLst/>
              <a:gdLst/>
              <a:ahLst/>
              <a:cxnLst/>
              <a:rect l="l" t="t" r="r" b="b"/>
              <a:pathLst>
                <a:path w="800373" h="2811713">
                  <a:moveTo>
                    <a:pt x="0" y="0"/>
                  </a:moveTo>
                  <a:lnTo>
                    <a:pt x="800373" y="0"/>
                  </a:lnTo>
                  <a:lnTo>
                    <a:pt x="800373" y="2811713"/>
                  </a:lnTo>
                  <a:lnTo>
                    <a:pt x="0" y="2811713"/>
                  </a:lnTo>
                  <a:close/>
                </a:path>
              </a:pathLst>
            </a:custGeom>
            <a:solidFill>
              <a:srgbClr val="A6A6A6">
                <a:alpha val="27843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00373" cy="28593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206356" y="1974715"/>
            <a:ext cx="821282" cy="821282"/>
            <a:chOff x="0" y="0"/>
            <a:chExt cx="1095043" cy="1095043"/>
          </a:xfrm>
        </p:grpSpPr>
        <p:grpSp>
          <p:nvGrpSpPr>
            <p:cNvPr id="6" name="Group 6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45454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283922" y="283922"/>
              <a:ext cx="527200" cy="527200"/>
            </a:xfrm>
            <a:custGeom>
              <a:avLst/>
              <a:gdLst/>
              <a:ahLst/>
              <a:cxnLst/>
              <a:rect l="l" t="t" r="r" b="b"/>
              <a:pathLst>
                <a:path w="527200" h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9342616" y="1974715"/>
            <a:ext cx="821282" cy="821282"/>
            <a:chOff x="0" y="0"/>
            <a:chExt cx="1095043" cy="1095043"/>
          </a:xfrm>
        </p:grpSpPr>
        <p:grpSp>
          <p:nvGrpSpPr>
            <p:cNvPr id="11" name="Group 11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45454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283922" y="283922"/>
              <a:ext cx="527200" cy="527200"/>
            </a:xfrm>
            <a:custGeom>
              <a:avLst/>
              <a:gdLst/>
              <a:ahLst/>
              <a:cxnLst/>
              <a:rect l="l" t="t" r="r" b="b"/>
              <a:pathLst>
                <a:path w="527200" h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0">
            <a:off x="1117474" y="4410428"/>
            <a:ext cx="821282" cy="821282"/>
            <a:chOff x="0" y="0"/>
            <a:chExt cx="1095043" cy="1095043"/>
          </a:xfrm>
        </p:grpSpPr>
        <p:grpSp>
          <p:nvGrpSpPr>
            <p:cNvPr id="16" name="Group 16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45454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283922" y="283922"/>
              <a:ext cx="527200" cy="527200"/>
            </a:xfrm>
            <a:custGeom>
              <a:avLst/>
              <a:gdLst/>
              <a:ahLst/>
              <a:cxnLst/>
              <a:rect l="l" t="t" r="r" b="b"/>
              <a:pathLst>
                <a:path w="527200" h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9342616" y="4556342"/>
            <a:ext cx="821282" cy="821282"/>
            <a:chOff x="0" y="0"/>
            <a:chExt cx="1095043" cy="1095043"/>
          </a:xfrm>
        </p:grpSpPr>
        <p:grpSp>
          <p:nvGrpSpPr>
            <p:cNvPr id="21" name="Group 21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45454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283922" y="283922"/>
              <a:ext cx="527200" cy="527200"/>
            </a:xfrm>
            <a:custGeom>
              <a:avLst/>
              <a:gdLst/>
              <a:ahLst/>
              <a:cxnLst/>
              <a:rect l="l" t="t" r="r" b="b"/>
              <a:pathLst>
                <a:path w="527200" h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5" name="AutoShape 25"/>
          <p:cNvSpPr/>
          <p:nvPr/>
        </p:nvSpPr>
        <p:spPr>
          <a:xfrm flipV="1">
            <a:off x="1939517" y="9555565"/>
            <a:ext cx="13237959" cy="9525"/>
          </a:xfrm>
          <a:prstGeom prst="line">
            <a:avLst/>
          </a:prstGeom>
          <a:ln w="19050" cap="flat">
            <a:solidFill>
              <a:srgbClr val="545454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26" name="TextBox 26"/>
          <p:cNvSpPr txBox="1"/>
          <p:nvPr/>
        </p:nvSpPr>
        <p:spPr>
          <a:xfrm>
            <a:off x="2253456" y="2808355"/>
            <a:ext cx="5768987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Defined the system architecture to map out conn</a:t>
            </a:r>
            <a:r>
              <a:rPr lang="en-US" sz="2000">
                <a:solidFill>
                  <a:srgbClr val="0B0A0A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ections between the microcontroller, power supply, and LED drivers</a:t>
            </a:r>
            <a:endParaRPr lang="en-US" sz="2000">
              <a:solidFill>
                <a:srgbClr val="0B0A0A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253456" y="1987211"/>
            <a:ext cx="3575971" cy="746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400" b="1">
                <a:solidFill>
                  <a:srgbClr val="0B0A0A"/>
                </a:solidFill>
                <a:latin typeface="TT Firs Neue Bold" panose="02000803030000020004"/>
                <a:ea typeface="TT Firs Neue Bold" panose="02000803030000020004"/>
                <a:cs typeface="TT Firs Neue Bold" panose="02000803030000020004"/>
                <a:sym typeface="TT Firs Neue Bold" panose="02000803030000020004"/>
              </a:rPr>
              <a:t>Phase 1 </a:t>
            </a:r>
            <a:endParaRPr lang="en-US" sz="2400" b="1">
              <a:solidFill>
                <a:srgbClr val="0B0A0A"/>
              </a:solidFill>
              <a:latin typeface="TT Firs Neue Bold" panose="02000803030000020004"/>
              <a:ea typeface="TT Firs Neue Bold" panose="02000803030000020004"/>
              <a:cs typeface="TT Firs Neue Bold" panose="02000803030000020004"/>
              <a:sym typeface="TT Firs Neue Bold" panose="02000803030000020004"/>
            </a:endParaRPr>
          </a:p>
          <a:p>
            <a:pPr algn="l">
              <a:lnSpc>
                <a:spcPts val="2930"/>
              </a:lnSpc>
            </a:pPr>
            <a:r>
              <a:rPr lang="en-US" sz="2400" b="1">
                <a:solidFill>
                  <a:srgbClr val="0B0A0A"/>
                </a:solidFill>
                <a:latin typeface="TT Firs Neue Bold" panose="02000803030000020004"/>
                <a:ea typeface="TT Firs Neue Bold" panose="02000803030000020004"/>
                <a:cs typeface="TT Firs Neue Bold" panose="02000803030000020004"/>
                <a:sym typeface="TT Firs Neue Bold" panose="02000803030000020004"/>
              </a:rPr>
              <a:t>Block Diagram</a:t>
            </a:r>
            <a:endParaRPr lang="en-US" sz="2400" b="1">
              <a:solidFill>
                <a:srgbClr val="0B0A0A"/>
              </a:solidFill>
              <a:latin typeface="TT Firs Neue Bold" panose="02000803030000020004"/>
              <a:ea typeface="TT Firs Neue Bold" panose="02000803030000020004"/>
              <a:cs typeface="TT Firs Neue Bold" panose="02000803030000020004"/>
              <a:sym typeface="TT Firs Neue Bold" panose="020008030300000200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451700" y="2734906"/>
            <a:ext cx="6037926" cy="175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Created and simulated detailed electronic schematics to ensure proper voltage regulation and signal int</a:t>
            </a:r>
            <a:r>
              <a:rPr lang="en-US" sz="2000">
                <a:solidFill>
                  <a:srgbClr val="0B0A0A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egrity for the LED control.</a:t>
            </a:r>
            <a:endParaRPr lang="en-US" sz="2000">
              <a:solidFill>
                <a:srgbClr val="0B0A0A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  <a:p>
            <a:pPr marL="431800" lvl="1" indent="-215900" algn="just">
              <a:lnSpc>
                <a:spcPts val="2800"/>
              </a:lnSpc>
              <a:buFont typeface="Arial" panose="020B0604020202020204"/>
              <a:buChar char="•"/>
            </a:pPr>
            <a:r>
              <a:rPr lang="en-US" sz="2000">
                <a:solidFill>
                  <a:srgbClr val="0B0A0A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Platforms: Proteus</a:t>
            </a:r>
            <a:endParaRPr lang="en-US" sz="2000">
              <a:solidFill>
                <a:srgbClr val="0B0A0A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  <a:p>
            <a:pPr algn="just">
              <a:lnSpc>
                <a:spcPts val="2800"/>
              </a:lnSpc>
            </a:pPr>
          </a:p>
        </p:txBody>
      </p:sp>
      <p:sp>
        <p:nvSpPr>
          <p:cNvPr id="29" name="TextBox 29"/>
          <p:cNvSpPr txBox="1"/>
          <p:nvPr/>
        </p:nvSpPr>
        <p:spPr>
          <a:xfrm>
            <a:off x="10432569" y="1965190"/>
            <a:ext cx="4296530" cy="730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5"/>
              </a:lnSpc>
            </a:pPr>
            <a:r>
              <a:rPr lang="en-US" sz="2400" b="1">
                <a:solidFill>
                  <a:srgbClr val="0B0A0A"/>
                </a:solidFill>
                <a:latin typeface="TT Firs Neue Bold" panose="02000803030000020004"/>
                <a:ea typeface="TT Firs Neue Bold" panose="02000803030000020004"/>
                <a:cs typeface="TT Firs Neue Bold" panose="02000803030000020004"/>
                <a:sym typeface="TT Firs Neue Bold" panose="02000803030000020004"/>
              </a:rPr>
              <a:t>Phase 2</a:t>
            </a:r>
            <a:endParaRPr lang="en-US" sz="2400" b="1">
              <a:solidFill>
                <a:srgbClr val="0B0A0A"/>
              </a:solidFill>
              <a:latin typeface="TT Firs Neue Bold" panose="02000803030000020004"/>
              <a:ea typeface="TT Firs Neue Bold" panose="02000803030000020004"/>
              <a:cs typeface="TT Firs Neue Bold" panose="02000803030000020004"/>
              <a:sym typeface="TT Firs Neue Bold" panose="02000803030000020004"/>
            </a:endParaRPr>
          </a:p>
          <a:p>
            <a:pPr algn="l">
              <a:lnSpc>
                <a:spcPts val="2905"/>
              </a:lnSpc>
            </a:pPr>
            <a:r>
              <a:rPr lang="en-US" sz="2400" b="1">
                <a:solidFill>
                  <a:srgbClr val="0B0A0A"/>
                </a:solidFill>
                <a:latin typeface="TT Firs Neue Bold" panose="02000803030000020004"/>
                <a:ea typeface="TT Firs Neue Bold" panose="02000803030000020004"/>
                <a:cs typeface="TT Firs Neue Bold" panose="02000803030000020004"/>
                <a:sym typeface="TT Firs Neue Bold" panose="02000803030000020004"/>
              </a:rPr>
              <a:t>Circuit Design</a:t>
            </a:r>
            <a:endParaRPr lang="en-US" sz="2400" b="1">
              <a:solidFill>
                <a:srgbClr val="0B0A0A"/>
              </a:solidFill>
              <a:latin typeface="TT Firs Neue Bold" panose="02000803030000020004"/>
              <a:ea typeface="TT Firs Neue Bold" panose="02000803030000020004"/>
              <a:cs typeface="TT Firs Neue Bold" panose="02000803030000020004"/>
              <a:sym typeface="TT Firs Neue Bold" panose="020008030300000200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432569" y="5329999"/>
            <a:ext cx="6037926" cy="175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Developed the firmware for the microcontroller and the mobile app interface (Dart/Flutter) to enable WiFi-based brigh</a:t>
            </a:r>
            <a:r>
              <a:rPr lang="en-US" sz="2000">
                <a:solidFill>
                  <a:srgbClr val="0B0A0A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tness and color control.</a:t>
            </a:r>
            <a:endParaRPr lang="en-US" sz="2000">
              <a:solidFill>
                <a:srgbClr val="0B0A0A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  <a:p>
            <a:pPr marL="431800" lvl="1" indent="-215900" algn="l">
              <a:lnSpc>
                <a:spcPts val="2800"/>
              </a:lnSpc>
              <a:buFont typeface="Arial" panose="020B0604020202020204"/>
              <a:buChar char="•"/>
            </a:pPr>
            <a:r>
              <a:rPr lang="en-US" sz="2000">
                <a:solidFill>
                  <a:srgbClr val="0B0A0A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Platforms : Arduino cloud, VS-Code</a:t>
            </a:r>
            <a:endParaRPr lang="en-US" sz="2000">
              <a:solidFill>
                <a:srgbClr val="0B0A0A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  <a:p>
            <a:pPr algn="l">
              <a:lnSpc>
                <a:spcPts val="2800"/>
              </a:lnSpc>
            </a:pPr>
          </a:p>
        </p:txBody>
      </p:sp>
      <p:sp>
        <p:nvSpPr>
          <p:cNvPr id="31" name="TextBox 31"/>
          <p:cNvSpPr txBox="1"/>
          <p:nvPr/>
        </p:nvSpPr>
        <p:spPr>
          <a:xfrm>
            <a:off x="10392499" y="4444945"/>
            <a:ext cx="3575971" cy="746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0"/>
              </a:lnSpc>
            </a:pPr>
            <a:r>
              <a:rPr lang="en-US" sz="2400" b="1">
                <a:solidFill>
                  <a:srgbClr val="0B0A0A"/>
                </a:solidFill>
                <a:latin typeface="TT Firs Neue Bold" panose="02000803030000020004"/>
                <a:ea typeface="TT Firs Neue Bold" panose="02000803030000020004"/>
                <a:cs typeface="TT Firs Neue Bold" panose="02000803030000020004"/>
                <a:sym typeface="TT Firs Neue Bold" panose="02000803030000020004"/>
              </a:rPr>
              <a:t>Phase 4</a:t>
            </a:r>
            <a:r>
              <a:rPr lang="en-US" sz="2400" b="1">
                <a:solidFill>
                  <a:srgbClr val="0B0A0A"/>
                </a:solidFill>
                <a:latin typeface="TT Firs Neue Bold" panose="02000803030000020004"/>
                <a:ea typeface="TT Firs Neue Bold" panose="02000803030000020004"/>
                <a:cs typeface="TT Firs Neue Bold" panose="02000803030000020004"/>
                <a:sym typeface="TT Firs Neue Bold" panose="02000803030000020004"/>
              </a:rPr>
              <a:t> </a:t>
            </a:r>
            <a:endParaRPr lang="en-US" sz="2400" b="1">
              <a:solidFill>
                <a:srgbClr val="0B0A0A"/>
              </a:solidFill>
              <a:latin typeface="TT Firs Neue Bold" panose="02000803030000020004"/>
              <a:ea typeface="TT Firs Neue Bold" panose="02000803030000020004"/>
              <a:cs typeface="TT Firs Neue Bold" panose="02000803030000020004"/>
              <a:sym typeface="TT Firs Neue Bold" panose="02000803030000020004"/>
            </a:endParaRPr>
          </a:p>
          <a:p>
            <a:pPr algn="l">
              <a:lnSpc>
                <a:spcPts val="2930"/>
              </a:lnSpc>
            </a:pPr>
            <a:r>
              <a:rPr lang="en-US" sz="2400" b="1">
                <a:solidFill>
                  <a:srgbClr val="0B0A0A"/>
                </a:solidFill>
                <a:latin typeface="TT Firs Neue Bold" panose="02000803030000020004"/>
                <a:ea typeface="TT Firs Neue Bold" panose="02000803030000020004"/>
                <a:cs typeface="TT Firs Neue Bold" panose="02000803030000020004"/>
                <a:sym typeface="TT Firs Neue Bold" panose="02000803030000020004"/>
              </a:rPr>
              <a:t>Code Implementation</a:t>
            </a:r>
            <a:endParaRPr lang="en-US" sz="2400" b="1">
              <a:solidFill>
                <a:srgbClr val="0B0A0A"/>
              </a:solidFill>
              <a:latin typeface="TT Firs Neue Bold" panose="02000803030000020004"/>
              <a:ea typeface="TT Firs Neue Bold" panose="02000803030000020004"/>
              <a:cs typeface="TT Firs Neue Bold" panose="02000803030000020004"/>
              <a:sym typeface="TT Firs Neue Bold" panose="020008030300000200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2164575" y="5294903"/>
            <a:ext cx="5768987" cy="175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Designed the physical board layout, routing tracks and defining component footprints to prepare the circu</a:t>
            </a:r>
            <a:r>
              <a:rPr lang="en-US" sz="2000">
                <a:solidFill>
                  <a:srgbClr val="0B0A0A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it for manufacturing.</a:t>
            </a:r>
            <a:endParaRPr lang="en-US" sz="2000">
              <a:solidFill>
                <a:srgbClr val="0B0A0A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  <a:p>
            <a:pPr marL="431800" lvl="1" indent="-215900" algn="l">
              <a:lnSpc>
                <a:spcPts val="2800"/>
              </a:lnSpc>
              <a:buFont typeface="Arial" panose="020B0604020202020204"/>
              <a:buChar char="•"/>
            </a:pPr>
            <a:r>
              <a:rPr lang="en-US" sz="2000">
                <a:solidFill>
                  <a:srgbClr val="0B0A0A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Platforms: KiCad</a:t>
            </a:r>
            <a:endParaRPr lang="en-US" sz="2000">
              <a:solidFill>
                <a:srgbClr val="0B0A0A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  <a:p>
            <a:pPr algn="l">
              <a:lnSpc>
                <a:spcPts val="2800"/>
              </a:lnSpc>
            </a:pPr>
          </a:p>
        </p:txBody>
      </p:sp>
      <p:sp>
        <p:nvSpPr>
          <p:cNvPr id="33" name="TextBox 33"/>
          <p:cNvSpPr txBox="1"/>
          <p:nvPr/>
        </p:nvSpPr>
        <p:spPr>
          <a:xfrm>
            <a:off x="2164575" y="4444945"/>
            <a:ext cx="3575971" cy="746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400" b="1">
                <a:solidFill>
                  <a:srgbClr val="0B0A0A"/>
                </a:solidFill>
                <a:latin typeface="TT Firs Neue Bold" panose="02000803030000020004"/>
                <a:ea typeface="TT Firs Neue Bold" panose="02000803030000020004"/>
                <a:cs typeface="TT Firs Neue Bold" panose="02000803030000020004"/>
                <a:sym typeface="TT Firs Neue Bold" panose="02000803030000020004"/>
              </a:rPr>
              <a:t>Phase 3</a:t>
            </a:r>
            <a:endParaRPr lang="en-US" sz="2400" b="1">
              <a:solidFill>
                <a:srgbClr val="0B0A0A"/>
              </a:solidFill>
              <a:latin typeface="TT Firs Neue Bold" panose="02000803030000020004"/>
              <a:ea typeface="TT Firs Neue Bold" panose="02000803030000020004"/>
              <a:cs typeface="TT Firs Neue Bold" panose="02000803030000020004"/>
              <a:sym typeface="TT Firs Neue Bold" panose="02000803030000020004"/>
            </a:endParaRPr>
          </a:p>
          <a:p>
            <a:pPr algn="l">
              <a:lnSpc>
                <a:spcPts val="2930"/>
              </a:lnSpc>
            </a:pPr>
            <a:r>
              <a:rPr lang="en-US" sz="2400" b="1">
                <a:solidFill>
                  <a:srgbClr val="0B0A0A"/>
                </a:solidFill>
                <a:latin typeface="TT Firs Neue Bold" panose="02000803030000020004"/>
                <a:ea typeface="TT Firs Neue Bold" panose="02000803030000020004"/>
                <a:cs typeface="TT Firs Neue Bold" panose="02000803030000020004"/>
                <a:sym typeface="TT Firs Neue Bold" panose="02000803030000020004"/>
              </a:rPr>
              <a:t>PCB Design</a:t>
            </a:r>
            <a:endParaRPr lang="en-US" sz="2400" b="1">
              <a:solidFill>
                <a:srgbClr val="0B0A0A"/>
              </a:solidFill>
              <a:latin typeface="TT Firs Neue Bold" panose="02000803030000020004"/>
              <a:ea typeface="TT Firs Neue Bold" panose="02000803030000020004"/>
              <a:cs typeface="TT Firs Neue Bold" panose="02000803030000020004"/>
              <a:sym typeface="TT Firs Neue Bold" panose="020008030300000200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5512421" y="9409197"/>
            <a:ext cx="97720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Page 03</a:t>
            </a:r>
            <a:endParaRPr lang="en-US" sz="16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117474" y="712379"/>
            <a:ext cx="10428230" cy="784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spc="-275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Product Development Lifecycle</a:t>
            </a:r>
            <a:endParaRPr lang="en-US" sz="5000" spc="-275">
              <a:solidFill>
                <a:srgbClr val="231F2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grpSp>
        <p:nvGrpSpPr>
          <p:cNvPr id="36" name="Group 36"/>
          <p:cNvGrpSpPr/>
          <p:nvPr/>
        </p:nvGrpSpPr>
        <p:grpSpPr>
          <a:xfrm rot="0">
            <a:off x="1206356" y="7177678"/>
            <a:ext cx="821282" cy="821282"/>
            <a:chOff x="0" y="0"/>
            <a:chExt cx="1095043" cy="1095043"/>
          </a:xfrm>
        </p:grpSpPr>
        <p:grpSp>
          <p:nvGrpSpPr>
            <p:cNvPr id="37" name="Group 37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45454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</a:p>
            </p:txBody>
          </p:sp>
        </p:grpSp>
        <p:sp>
          <p:nvSpPr>
            <p:cNvPr id="40" name="Freeform 40"/>
            <p:cNvSpPr/>
            <p:nvPr/>
          </p:nvSpPr>
          <p:spPr>
            <a:xfrm>
              <a:off x="283922" y="283922"/>
              <a:ext cx="527200" cy="527200"/>
            </a:xfrm>
            <a:custGeom>
              <a:avLst/>
              <a:gdLst/>
              <a:ahLst/>
              <a:cxnLst/>
              <a:rect l="l" t="t" r="r" b="b"/>
              <a:pathLst>
                <a:path w="527200" h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 rot="0">
            <a:off x="9361747" y="7219892"/>
            <a:ext cx="821282" cy="821282"/>
            <a:chOff x="0" y="0"/>
            <a:chExt cx="1095043" cy="1095043"/>
          </a:xfrm>
        </p:grpSpPr>
        <p:grpSp>
          <p:nvGrpSpPr>
            <p:cNvPr id="42" name="Group 42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45454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</a:p>
            </p:txBody>
          </p:sp>
        </p:grpSp>
        <p:sp>
          <p:nvSpPr>
            <p:cNvPr id="45" name="Freeform 45"/>
            <p:cNvSpPr/>
            <p:nvPr/>
          </p:nvSpPr>
          <p:spPr>
            <a:xfrm>
              <a:off x="283922" y="283922"/>
              <a:ext cx="527200" cy="527200"/>
            </a:xfrm>
            <a:custGeom>
              <a:avLst/>
              <a:gdLst/>
              <a:ahLst/>
              <a:cxnLst/>
              <a:rect l="l" t="t" r="r" b="b"/>
              <a:pathLst>
                <a:path w="527200" h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46" name="TextBox 46"/>
          <p:cNvSpPr txBox="1"/>
          <p:nvPr/>
        </p:nvSpPr>
        <p:spPr>
          <a:xfrm>
            <a:off x="10451465" y="8089265"/>
            <a:ext cx="6306820" cy="164973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000">
                <a:solidFill>
                  <a:srgbClr val="0B0A0A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Tested the complete system to resolve connectivity bugs and refine the app responsiveness u</a:t>
            </a:r>
            <a:r>
              <a:rPr lang="en-US" sz="2000">
                <a:solidFill>
                  <a:srgbClr val="0B0A0A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sing real-time debugging tools.</a:t>
            </a:r>
            <a:endParaRPr lang="en-US" sz="2000">
              <a:solidFill>
                <a:srgbClr val="0B0A0A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  <a:p>
            <a:pPr marL="431800" lvl="1" indent="-215900" algn="l">
              <a:lnSpc>
                <a:spcPts val="2800"/>
              </a:lnSpc>
              <a:buFont typeface="Arial" panose="020B0604020202020204"/>
              <a:buChar char="•"/>
            </a:pPr>
            <a:r>
              <a:rPr lang="en-US" sz="2000">
                <a:solidFill>
                  <a:srgbClr val="0B0A0A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Platforms: Visual Studio, Arduino Cloud</a:t>
            </a:r>
            <a:endParaRPr lang="en-US" sz="2000">
              <a:solidFill>
                <a:srgbClr val="0B0A0A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  <a:p>
            <a:pPr algn="l">
              <a:lnSpc>
                <a:spcPts val="2800"/>
              </a:lnSpc>
            </a:pPr>
          </a:p>
        </p:txBody>
      </p:sp>
      <p:sp>
        <p:nvSpPr>
          <p:cNvPr id="47" name="TextBox 47"/>
          <p:cNvSpPr txBox="1"/>
          <p:nvPr/>
        </p:nvSpPr>
        <p:spPr>
          <a:xfrm>
            <a:off x="10408848" y="7168153"/>
            <a:ext cx="3575971" cy="746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0"/>
              </a:lnSpc>
            </a:pPr>
            <a:r>
              <a:rPr lang="en-US" sz="2400" b="1">
                <a:solidFill>
                  <a:srgbClr val="0B0A0A"/>
                </a:solidFill>
                <a:latin typeface="TT Firs Neue Bold" panose="02000803030000020004"/>
                <a:ea typeface="TT Firs Neue Bold" panose="02000803030000020004"/>
                <a:cs typeface="TT Firs Neue Bold" panose="02000803030000020004"/>
                <a:sym typeface="TT Firs Neue Bold" panose="02000803030000020004"/>
              </a:rPr>
              <a:t>Phase 6</a:t>
            </a:r>
            <a:endParaRPr lang="en-US" sz="2400" b="1">
              <a:solidFill>
                <a:srgbClr val="0B0A0A"/>
              </a:solidFill>
              <a:latin typeface="TT Firs Neue Bold" panose="02000803030000020004"/>
              <a:ea typeface="TT Firs Neue Bold" panose="02000803030000020004"/>
              <a:cs typeface="TT Firs Neue Bold" panose="02000803030000020004"/>
              <a:sym typeface="TT Firs Neue Bold" panose="02000803030000020004"/>
            </a:endParaRPr>
          </a:p>
          <a:p>
            <a:pPr algn="l">
              <a:lnSpc>
                <a:spcPts val="2930"/>
              </a:lnSpc>
            </a:pPr>
            <a:r>
              <a:rPr lang="en-US" sz="2400" b="1">
                <a:solidFill>
                  <a:srgbClr val="0B0A0A"/>
                </a:solidFill>
                <a:latin typeface="TT Firs Neue Bold" panose="02000803030000020004"/>
                <a:ea typeface="TT Firs Neue Bold" panose="02000803030000020004"/>
                <a:cs typeface="TT Firs Neue Bold" panose="02000803030000020004"/>
                <a:sym typeface="TT Firs Neue Bold" panose="02000803030000020004"/>
              </a:rPr>
              <a:t>Troubleshooting</a:t>
            </a:r>
            <a:endParaRPr lang="en-US" sz="2400" b="1">
              <a:solidFill>
                <a:srgbClr val="0B0A0A"/>
              </a:solidFill>
              <a:latin typeface="TT Firs Neue Bold" panose="02000803030000020004"/>
              <a:ea typeface="TT Firs Neue Bold" panose="02000803030000020004"/>
              <a:cs typeface="TT Firs Neue Bold" panose="02000803030000020004"/>
              <a:sym typeface="TT Firs Neue Bold" panose="02000803030000020004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2253456" y="8075160"/>
            <a:ext cx="5680106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Soldered electronic components onto the printed circuit board and integrated the hardware in</a:t>
            </a:r>
            <a:r>
              <a:rPr lang="en-US" sz="2000">
                <a:solidFill>
                  <a:srgbClr val="0B0A0A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to the LED panel enclosure.</a:t>
            </a:r>
            <a:endParaRPr lang="en-US" sz="2000">
              <a:solidFill>
                <a:srgbClr val="0B0A0A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2253456" y="7252581"/>
            <a:ext cx="3575971" cy="746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400" b="1">
                <a:solidFill>
                  <a:srgbClr val="0B0A0A"/>
                </a:solidFill>
                <a:latin typeface="TT Firs Neue Bold" panose="02000803030000020004"/>
                <a:ea typeface="TT Firs Neue Bold" panose="02000803030000020004"/>
                <a:cs typeface="TT Firs Neue Bold" panose="02000803030000020004"/>
                <a:sym typeface="TT Firs Neue Bold" panose="02000803030000020004"/>
              </a:rPr>
              <a:t>Phase 5</a:t>
            </a:r>
            <a:endParaRPr lang="en-US" sz="2400" b="1">
              <a:solidFill>
                <a:srgbClr val="0B0A0A"/>
              </a:solidFill>
              <a:latin typeface="TT Firs Neue Bold" panose="02000803030000020004"/>
              <a:ea typeface="TT Firs Neue Bold" panose="02000803030000020004"/>
              <a:cs typeface="TT Firs Neue Bold" panose="02000803030000020004"/>
              <a:sym typeface="TT Firs Neue Bold" panose="02000803030000020004"/>
            </a:endParaRPr>
          </a:p>
          <a:p>
            <a:pPr algn="l">
              <a:lnSpc>
                <a:spcPts val="2930"/>
              </a:lnSpc>
            </a:pPr>
            <a:r>
              <a:rPr lang="en-US" sz="2400" b="1">
                <a:solidFill>
                  <a:srgbClr val="0B0A0A"/>
                </a:solidFill>
                <a:latin typeface="TT Firs Neue Bold" panose="02000803030000020004"/>
                <a:ea typeface="TT Firs Neue Bold" panose="02000803030000020004"/>
                <a:cs typeface="TT Firs Neue Bold" panose="02000803030000020004"/>
                <a:sym typeface="TT Firs Neue Bold" panose="02000803030000020004"/>
              </a:rPr>
              <a:t>Assemble</a:t>
            </a:r>
            <a:endParaRPr lang="en-US" sz="2400" b="1">
              <a:solidFill>
                <a:srgbClr val="0B0A0A"/>
              </a:solidFill>
              <a:latin typeface="TT Firs Neue Bold" panose="02000803030000020004"/>
              <a:ea typeface="TT Firs Neue Bold" panose="02000803030000020004"/>
              <a:cs typeface="TT Firs Neue Bold" panose="02000803030000020004"/>
              <a:sym typeface="TT Firs Neue Bold" panose="020008030300000200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67071" y="1564000"/>
            <a:ext cx="362615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0">
            <a:off x="14481566" y="-56421"/>
            <a:ext cx="3038915" cy="10675724"/>
            <a:chOff x="0" y="0"/>
            <a:chExt cx="800373" cy="281171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00373" cy="2811713"/>
            </a:xfrm>
            <a:custGeom>
              <a:avLst/>
              <a:gdLst/>
              <a:ahLst/>
              <a:cxnLst/>
              <a:rect l="l" t="t" r="r" b="b"/>
              <a:pathLst>
                <a:path w="800373" h="2811713">
                  <a:moveTo>
                    <a:pt x="0" y="0"/>
                  </a:moveTo>
                  <a:lnTo>
                    <a:pt x="800373" y="0"/>
                  </a:lnTo>
                  <a:lnTo>
                    <a:pt x="800373" y="2811713"/>
                  </a:lnTo>
                  <a:lnTo>
                    <a:pt x="0" y="2811713"/>
                  </a:lnTo>
                  <a:close/>
                </a:path>
              </a:pathLst>
            </a:custGeom>
            <a:solidFill>
              <a:srgbClr val="A6A6A6">
                <a:alpha val="27843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00373" cy="28593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2525021" y="9622371"/>
            <a:ext cx="13237959" cy="9525"/>
          </a:xfrm>
          <a:prstGeom prst="line">
            <a:avLst/>
          </a:prstGeom>
          <a:ln w="19050" cap="flat">
            <a:solidFill>
              <a:srgbClr val="545454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4080457" y="1782910"/>
            <a:ext cx="8319761" cy="7654862"/>
          </a:xfrm>
          <a:custGeom>
            <a:avLst/>
            <a:gdLst/>
            <a:ahLst/>
            <a:cxnLst/>
            <a:rect l="l" t="t" r="r" b="b"/>
            <a:pathLst>
              <a:path w="8319761" h="7654862">
                <a:moveTo>
                  <a:pt x="0" y="0"/>
                </a:moveTo>
                <a:lnTo>
                  <a:pt x="8319760" y="0"/>
                </a:lnTo>
                <a:lnTo>
                  <a:pt x="8319760" y="7654862"/>
                </a:lnTo>
                <a:lnTo>
                  <a:pt x="0" y="765486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1339144" y="844133"/>
            <a:ext cx="8342647" cy="53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Block Diagram</a:t>
            </a:r>
            <a:endParaRPr lang="en-US" sz="3000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512421" y="9409197"/>
            <a:ext cx="97720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Page 05</a:t>
            </a:r>
            <a:endParaRPr lang="en-US" sz="16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67071" y="1564000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0">
            <a:off x="14481566" y="-56421"/>
            <a:ext cx="3038915" cy="10675724"/>
            <a:chOff x="0" y="0"/>
            <a:chExt cx="800373" cy="281171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00373" cy="2811713"/>
            </a:xfrm>
            <a:custGeom>
              <a:avLst/>
              <a:gdLst/>
              <a:ahLst/>
              <a:cxnLst/>
              <a:rect l="l" t="t" r="r" b="b"/>
              <a:pathLst>
                <a:path w="800373" h="2811713">
                  <a:moveTo>
                    <a:pt x="0" y="0"/>
                  </a:moveTo>
                  <a:lnTo>
                    <a:pt x="800373" y="0"/>
                  </a:lnTo>
                  <a:lnTo>
                    <a:pt x="800373" y="2811713"/>
                  </a:lnTo>
                  <a:lnTo>
                    <a:pt x="0" y="2811713"/>
                  </a:lnTo>
                  <a:close/>
                </a:path>
              </a:pathLst>
            </a:custGeom>
            <a:solidFill>
              <a:srgbClr val="A6A6A6">
                <a:alpha val="27843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00373" cy="28593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1939517" y="9555565"/>
            <a:ext cx="13237959" cy="9525"/>
          </a:xfrm>
          <a:prstGeom prst="line">
            <a:avLst/>
          </a:prstGeom>
          <a:ln w="19050" cap="flat">
            <a:solidFill>
              <a:srgbClr val="545454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367071" y="2442468"/>
            <a:ext cx="13608840" cy="4472835"/>
          </a:xfrm>
          <a:custGeom>
            <a:avLst/>
            <a:gdLst/>
            <a:ahLst/>
            <a:cxnLst/>
            <a:rect l="l" t="t" r="r" b="b"/>
            <a:pathLst>
              <a:path w="13608840" h="4472835">
                <a:moveTo>
                  <a:pt x="0" y="0"/>
                </a:moveTo>
                <a:lnTo>
                  <a:pt x="13608840" y="0"/>
                </a:lnTo>
                <a:lnTo>
                  <a:pt x="13608840" y="4472835"/>
                </a:lnTo>
                <a:lnTo>
                  <a:pt x="0" y="447283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57433" t="-27344" r="-56938" b="-325961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1435887" y="844133"/>
            <a:ext cx="8342647" cy="53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Circuit Design</a:t>
            </a:r>
            <a:endParaRPr lang="en-US" sz="3000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512421" y="9409197"/>
            <a:ext cx="97720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Page 06</a:t>
            </a:r>
            <a:endParaRPr lang="en-US" sz="16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5930790" y="7077228"/>
            <a:ext cx="2454288" cy="698474"/>
          </a:xfrm>
          <a:custGeom>
            <a:avLst/>
            <a:gdLst/>
            <a:ahLst/>
            <a:cxnLst/>
            <a:rect l="l" t="t" r="r" b="b"/>
            <a:pathLst>
              <a:path w="2454288" h="698474">
                <a:moveTo>
                  <a:pt x="0" y="0"/>
                </a:moveTo>
                <a:lnTo>
                  <a:pt x="2454287" y="0"/>
                </a:lnTo>
                <a:lnTo>
                  <a:pt x="2454287" y="698474"/>
                </a:lnTo>
                <a:lnTo>
                  <a:pt x="0" y="69847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071580" t="-490946" r="-38160" b="-2363340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67071" y="1564000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0">
            <a:off x="14481566" y="-56421"/>
            <a:ext cx="3038915" cy="10675724"/>
            <a:chOff x="0" y="0"/>
            <a:chExt cx="800373" cy="281171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00373" cy="2811713"/>
            </a:xfrm>
            <a:custGeom>
              <a:avLst/>
              <a:gdLst/>
              <a:ahLst/>
              <a:cxnLst/>
              <a:rect l="l" t="t" r="r" b="b"/>
              <a:pathLst>
                <a:path w="800373" h="2811713">
                  <a:moveTo>
                    <a:pt x="0" y="0"/>
                  </a:moveTo>
                  <a:lnTo>
                    <a:pt x="800373" y="0"/>
                  </a:lnTo>
                  <a:lnTo>
                    <a:pt x="800373" y="2811713"/>
                  </a:lnTo>
                  <a:lnTo>
                    <a:pt x="0" y="2811713"/>
                  </a:lnTo>
                  <a:close/>
                </a:path>
              </a:pathLst>
            </a:custGeom>
            <a:solidFill>
              <a:srgbClr val="A6A6A6">
                <a:alpha val="27843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00373" cy="28593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1939517" y="9555565"/>
            <a:ext cx="13237959" cy="9525"/>
          </a:xfrm>
          <a:prstGeom prst="line">
            <a:avLst/>
          </a:prstGeom>
          <a:ln w="19050" cap="flat">
            <a:solidFill>
              <a:srgbClr val="545454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-1435887" y="844133"/>
            <a:ext cx="8342647" cy="53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Circuit Design</a:t>
            </a:r>
            <a:endParaRPr lang="en-US" sz="3000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512421" y="9409197"/>
            <a:ext cx="97720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Page 06</a:t>
            </a:r>
            <a:endParaRPr lang="en-US" sz="16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2473555" y="2973760"/>
            <a:ext cx="12861654" cy="4339480"/>
          </a:xfrm>
          <a:custGeom>
            <a:avLst/>
            <a:gdLst/>
            <a:ahLst/>
            <a:cxnLst/>
            <a:rect l="l" t="t" r="r" b="b"/>
            <a:pathLst>
              <a:path w="12861654" h="4339480">
                <a:moveTo>
                  <a:pt x="0" y="0"/>
                </a:moveTo>
                <a:lnTo>
                  <a:pt x="12861655" y="0"/>
                </a:lnTo>
                <a:lnTo>
                  <a:pt x="12861655" y="4339480"/>
                </a:lnTo>
                <a:lnTo>
                  <a:pt x="0" y="433948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67420" t="-168061" r="-91428" b="-265140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67071" y="1564000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0">
            <a:off x="14481566" y="-56421"/>
            <a:ext cx="3038915" cy="10675724"/>
            <a:chOff x="0" y="0"/>
            <a:chExt cx="800373" cy="281171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00373" cy="2811713"/>
            </a:xfrm>
            <a:custGeom>
              <a:avLst/>
              <a:gdLst/>
              <a:ahLst/>
              <a:cxnLst/>
              <a:rect l="l" t="t" r="r" b="b"/>
              <a:pathLst>
                <a:path w="800373" h="2811713">
                  <a:moveTo>
                    <a:pt x="0" y="0"/>
                  </a:moveTo>
                  <a:lnTo>
                    <a:pt x="800373" y="0"/>
                  </a:lnTo>
                  <a:lnTo>
                    <a:pt x="800373" y="2811713"/>
                  </a:lnTo>
                  <a:lnTo>
                    <a:pt x="0" y="2811713"/>
                  </a:lnTo>
                  <a:close/>
                </a:path>
              </a:pathLst>
            </a:custGeom>
            <a:solidFill>
              <a:srgbClr val="A6A6A6">
                <a:alpha val="27843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00373" cy="28593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1939517" y="9555565"/>
            <a:ext cx="13237959" cy="9525"/>
          </a:xfrm>
          <a:prstGeom prst="line">
            <a:avLst/>
          </a:prstGeom>
          <a:ln w="19050" cap="flat">
            <a:solidFill>
              <a:srgbClr val="545454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-1435887" y="844133"/>
            <a:ext cx="8342647" cy="53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Circuit Design</a:t>
            </a:r>
            <a:endParaRPr lang="en-US" sz="3000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512421" y="9409197"/>
            <a:ext cx="97720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Page 06</a:t>
            </a:r>
            <a:endParaRPr lang="en-US" sz="16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8066852" y="2981843"/>
            <a:ext cx="8754781" cy="5217604"/>
          </a:xfrm>
          <a:custGeom>
            <a:avLst/>
            <a:gdLst/>
            <a:ahLst/>
            <a:cxnLst/>
            <a:rect l="l" t="t" r="r" b="b"/>
            <a:pathLst>
              <a:path w="8754781" h="5217604">
                <a:moveTo>
                  <a:pt x="0" y="0"/>
                </a:moveTo>
                <a:lnTo>
                  <a:pt x="8754781" y="0"/>
                </a:lnTo>
                <a:lnTo>
                  <a:pt x="8754781" y="5217604"/>
                </a:lnTo>
                <a:lnTo>
                  <a:pt x="0" y="521760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434762" t="-201508" r="-19264" b="-344576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727048" y="2477629"/>
            <a:ext cx="5440790" cy="5970219"/>
          </a:xfrm>
          <a:custGeom>
            <a:avLst/>
            <a:gdLst/>
            <a:ahLst/>
            <a:cxnLst/>
            <a:rect l="l" t="t" r="r" b="b"/>
            <a:pathLst>
              <a:path w="5440790" h="5970219">
                <a:moveTo>
                  <a:pt x="0" y="0"/>
                </a:moveTo>
                <a:lnTo>
                  <a:pt x="5440790" y="0"/>
                </a:lnTo>
                <a:lnTo>
                  <a:pt x="5440790" y="5970219"/>
                </a:lnTo>
                <a:lnTo>
                  <a:pt x="0" y="597021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8350" t="-62428" r="-367661" b="-145396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67071" y="1564000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0">
            <a:off x="14481566" y="-56421"/>
            <a:ext cx="3038915" cy="10675724"/>
            <a:chOff x="0" y="0"/>
            <a:chExt cx="800373" cy="281171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00373" cy="2811713"/>
            </a:xfrm>
            <a:custGeom>
              <a:avLst/>
              <a:gdLst/>
              <a:ahLst/>
              <a:cxnLst/>
              <a:rect l="l" t="t" r="r" b="b"/>
              <a:pathLst>
                <a:path w="800373" h="2811713">
                  <a:moveTo>
                    <a:pt x="0" y="0"/>
                  </a:moveTo>
                  <a:lnTo>
                    <a:pt x="800373" y="0"/>
                  </a:lnTo>
                  <a:lnTo>
                    <a:pt x="800373" y="2811713"/>
                  </a:lnTo>
                  <a:lnTo>
                    <a:pt x="0" y="2811713"/>
                  </a:lnTo>
                  <a:close/>
                </a:path>
              </a:pathLst>
            </a:custGeom>
            <a:solidFill>
              <a:srgbClr val="A6A6A6">
                <a:alpha val="27843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00373" cy="28593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1939517" y="9555565"/>
            <a:ext cx="13237959" cy="9525"/>
          </a:xfrm>
          <a:prstGeom prst="line">
            <a:avLst/>
          </a:prstGeom>
          <a:ln w="19050" cap="flat">
            <a:solidFill>
              <a:srgbClr val="545454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2735436" y="2328987"/>
            <a:ext cx="11301259" cy="5904908"/>
          </a:xfrm>
          <a:custGeom>
            <a:avLst/>
            <a:gdLst/>
            <a:ahLst/>
            <a:cxnLst/>
            <a:rect l="l" t="t" r="r" b="b"/>
            <a:pathLst>
              <a:path w="11301259" h="5904908">
                <a:moveTo>
                  <a:pt x="0" y="0"/>
                </a:moveTo>
                <a:lnTo>
                  <a:pt x="11301259" y="0"/>
                </a:lnTo>
                <a:lnTo>
                  <a:pt x="11301259" y="5904908"/>
                </a:lnTo>
                <a:lnTo>
                  <a:pt x="0" y="590490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1435887" y="844133"/>
            <a:ext cx="8342647" cy="53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PCB Design</a:t>
            </a:r>
            <a:endParaRPr lang="en-US" sz="3000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512421" y="9409197"/>
            <a:ext cx="97720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Page 06</a:t>
            </a:r>
            <a:endParaRPr lang="en-US" sz="16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grpSp>
        <p:nvGrpSpPr>
          <p:cNvPr id="10" name="Group 10"/>
          <p:cNvGrpSpPr/>
          <p:nvPr/>
        </p:nvGrpSpPr>
        <p:grpSpPr>
          <a:xfrm rot="0">
            <a:off x="5892059" y="4715665"/>
            <a:ext cx="129181" cy="12918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10074691" y="5813906"/>
            <a:ext cx="129181" cy="12918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52961" y="1564000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0">
            <a:off x="14481566" y="-56421"/>
            <a:ext cx="3038915" cy="10675724"/>
            <a:chOff x="0" y="0"/>
            <a:chExt cx="800373" cy="281171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00373" cy="2811713"/>
            </a:xfrm>
            <a:custGeom>
              <a:avLst/>
              <a:gdLst/>
              <a:ahLst/>
              <a:cxnLst/>
              <a:rect l="l" t="t" r="r" b="b"/>
              <a:pathLst>
                <a:path w="800373" h="2811713">
                  <a:moveTo>
                    <a:pt x="0" y="0"/>
                  </a:moveTo>
                  <a:lnTo>
                    <a:pt x="800373" y="0"/>
                  </a:lnTo>
                  <a:lnTo>
                    <a:pt x="800373" y="2811713"/>
                  </a:lnTo>
                  <a:lnTo>
                    <a:pt x="0" y="2811713"/>
                  </a:lnTo>
                  <a:close/>
                </a:path>
              </a:pathLst>
            </a:custGeom>
            <a:solidFill>
              <a:srgbClr val="A6A6A6">
                <a:alpha val="27843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00373" cy="28593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1939517" y="9555565"/>
            <a:ext cx="13237959" cy="9525"/>
          </a:xfrm>
          <a:prstGeom prst="line">
            <a:avLst/>
          </a:prstGeom>
          <a:ln w="19050" cap="flat">
            <a:solidFill>
              <a:srgbClr val="545454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881963" y="5042500"/>
            <a:ext cx="4989717" cy="2752465"/>
          </a:xfrm>
          <a:custGeom>
            <a:avLst/>
            <a:gdLst/>
            <a:ahLst/>
            <a:cxnLst/>
            <a:rect l="l" t="t" r="r" b="b"/>
            <a:pathLst>
              <a:path w="4989717" h="2752465">
                <a:moveTo>
                  <a:pt x="0" y="0"/>
                </a:moveTo>
                <a:lnTo>
                  <a:pt x="4989718" y="0"/>
                </a:lnTo>
                <a:lnTo>
                  <a:pt x="4989718" y="2752465"/>
                </a:lnTo>
                <a:lnTo>
                  <a:pt x="0" y="275246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6941" r="-73159" b="-5832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745201" y="5143500"/>
            <a:ext cx="10401604" cy="2550465"/>
          </a:xfrm>
          <a:custGeom>
            <a:avLst/>
            <a:gdLst/>
            <a:ahLst/>
            <a:cxnLst/>
            <a:rect l="l" t="t" r="r" b="b"/>
            <a:pathLst>
              <a:path w="10401604" h="2550465">
                <a:moveTo>
                  <a:pt x="0" y="0"/>
                </a:moveTo>
                <a:lnTo>
                  <a:pt x="10401604" y="0"/>
                </a:lnTo>
                <a:lnTo>
                  <a:pt x="10401604" y="2550465"/>
                </a:lnTo>
                <a:lnTo>
                  <a:pt x="0" y="25504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14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-597446" y="718185"/>
            <a:ext cx="8342647" cy="53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Code Implementation</a:t>
            </a:r>
            <a:endParaRPr lang="en-US" sz="3000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512421" y="9409197"/>
            <a:ext cx="97720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Page 06</a:t>
            </a:r>
            <a:endParaRPr lang="en-US" sz="16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52961" y="2028805"/>
            <a:ext cx="15512421" cy="254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Real Time Communication Logic</a:t>
            </a:r>
            <a:endParaRPr lang="en-US" sz="26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  <a:p>
            <a:pPr algn="l">
              <a:lnSpc>
                <a:spcPts val="3360"/>
              </a:lnSpc>
            </a:pPr>
            <a:r>
              <a:rPr lang="en-US" sz="2400" b="1">
                <a:solidFill>
                  <a:srgbClr val="000000"/>
                </a:solidFill>
                <a:latin typeface="TT Firs Neue Bold" panose="02000803030000020004"/>
                <a:ea typeface="TT Firs Neue Bold" panose="02000803030000020004"/>
                <a:cs typeface="TT Firs Neue Bold" panose="02000803030000020004"/>
                <a:sym typeface="TT Firs Neue Bold" panose="02000803030000020004"/>
              </a:rPr>
              <a:t>Challenge : </a:t>
            </a:r>
            <a:r>
              <a:rPr lang="en-US" sz="24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Traditional HTTP requests require opening and closing a connection for every command. This introduces latency flicker when dimming.</a:t>
            </a:r>
            <a:endParaRPr lang="en-US" sz="24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  <a:p>
            <a:pPr algn="l">
              <a:lnSpc>
                <a:spcPts val="3360"/>
              </a:lnSpc>
            </a:pPr>
            <a:r>
              <a:rPr lang="en-US" sz="2400" b="1">
                <a:solidFill>
                  <a:srgbClr val="000000"/>
                </a:solidFill>
                <a:latin typeface="TT Firs Neue Bold" panose="02000803030000020004"/>
                <a:ea typeface="TT Firs Neue Bold" panose="02000803030000020004"/>
                <a:cs typeface="TT Firs Neue Bold" panose="02000803030000020004"/>
                <a:sym typeface="TT Firs Neue Bold" panose="02000803030000020004"/>
              </a:rPr>
              <a:t>Solution :</a:t>
            </a:r>
            <a:r>
              <a:rPr lang="en-US" sz="24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 </a:t>
            </a:r>
            <a:r>
              <a:rPr lang="en-US" sz="24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WebSocket keeps a constant connection to the LED Panel light, sending all settings together in one JSON to ensure quick, smooth adjustments without flickering or delays.</a:t>
            </a:r>
            <a:endParaRPr lang="en-US" sz="24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  <a:p>
            <a:pPr algn="ctr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id="12" name="TextBox 12"/>
          <p:cNvSpPr txBox="1"/>
          <p:nvPr/>
        </p:nvSpPr>
        <p:spPr>
          <a:xfrm>
            <a:off x="1939745" y="8042615"/>
            <a:ext cx="3268266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Flutter Code in app control</a:t>
            </a:r>
            <a:endParaRPr lang="en-US" sz="20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878211" y="7924822"/>
            <a:ext cx="446424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C++ Code in controlling ESP32 board</a:t>
            </a:r>
            <a:endParaRPr lang="en-US" sz="20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52961" y="1564000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0">
            <a:off x="14481566" y="-56421"/>
            <a:ext cx="3038915" cy="10675724"/>
            <a:chOff x="0" y="0"/>
            <a:chExt cx="800373" cy="281171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00373" cy="2811713"/>
            </a:xfrm>
            <a:custGeom>
              <a:avLst/>
              <a:gdLst/>
              <a:ahLst/>
              <a:cxnLst/>
              <a:rect l="l" t="t" r="r" b="b"/>
              <a:pathLst>
                <a:path w="800373" h="2811713">
                  <a:moveTo>
                    <a:pt x="0" y="0"/>
                  </a:moveTo>
                  <a:lnTo>
                    <a:pt x="800373" y="0"/>
                  </a:lnTo>
                  <a:lnTo>
                    <a:pt x="800373" y="2811713"/>
                  </a:lnTo>
                  <a:lnTo>
                    <a:pt x="0" y="2811713"/>
                  </a:lnTo>
                  <a:close/>
                </a:path>
              </a:pathLst>
            </a:custGeom>
            <a:solidFill>
              <a:srgbClr val="A6A6A6">
                <a:alpha val="27843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00373" cy="28593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1939517" y="9555565"/>
            <a:ext cx="13237959" cy="9525"/>
          </a:xfrm>
          <a:prstGeom prst="line">
            <a:avLst/>
          </a:prstGeom>
          <a:ln w="19050" cap="flat">
            <a:solidFill>
              <a:srgbClr val="545454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412731" y="4780036"/>
            <a:ext cx="6960634" cy="2094188"/>
          </a:xfrm>
          <a:custGeom>
            <a:avLst/>
            <a:gdLst/>
            <a:ahLst/>
            <a:cxnLst/>
            <a:rect l="l" t="t" r="r" b="b"/>
            <a:pathLst>
              <a:path w="6960634" h="2094188">
                <a:moveTo>
                  <a:pt x="0" y="0"/>
                </a:moveTo>
                <a:lnTo>
                  <a:pt x="6960634" y="0"/>
                </a:lnTo>
                <a:lnTo>
                  <a:pt x="6960634" y="2094188"/>
                </a:lnTo>
                <a:lnTo>
                  <a:pt x="0" y="209418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r="-24351" b="-12027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745201" y="4780036"/>
            <a:ext cx="9739351" cy="2045997"/>
          </a:xfrm>
          <a:custGeom>
            <a:avLst/>
            <a:gdLst/>
            <a:ahLst/>
            <a:cxnLst/>
            <a:rect l="l" t="t" r="r" b="b"/>
            <a:pathLst>
              <a:path w="9739351" h="2045997">
                <a:moveTo>
                  <a:pt x="0" y="0"/>
                </a:moveTo>
                <a:lnTo>
                  <a:pt x="9739351" y="0"/>
                </a:lnTo>
                <a:lnTo>
                  <a:pt x="9739351" y="2045996"/>
                </a:lnTo>
                <a:lnTo>
                  <a:pt x="0" y="204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55" r="-12523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-597446" y="718185"/>
            <a:ext cx="8342647" cy="53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Code Implementation</a:t>
            </a:r>
            <a:endParaRPr lang="en-US" sz="3000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512421" y="9409197"/>
            <a:ext cx="97720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Page 06</a:t>
            </a:r>
            <a:endParaRPr lang="en-US" sz="16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35111" y="981075"/>
            <a:ext cx="15454514" cy="253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Zero configuration User experience</a:t>
            </a:r>
            <a:endParaRPr lang="en-US" sz="26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  <a:p>
            <a:pPr algn="just">
              <a:lnSpc>
                <a:spcPts val="3360"/>
              </a:lnSpc>
            </a:pPr>
            <a:r>
              <a:rPr lang="en-US" sz="2400" b="1">
                <a:solidFill>
                  <a:srgbClr val="000000"/>
                </a:solidFill>
                <a:latin typeface="TT Firs Neue Bold" panose="02000803030000020004"/>
                <a:ea typeface="TT Firs Neue Bold" panose="02000803030000020004"/>
                <a:cs typeface="TT Firs Neue Bold" panose="02000803030000020004"/>
                <a:sym typeface="TT Firs Neue Bold" panose="02000803030000020004"/>
              </a:rPr>
              <a:t>Challenge :</a:t>
            </a:r>
            <a:r>
              <a:rPr lang="en-US" sz="24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 Users cannot be expected to find or type IPs to control their lights</a:t>
            </a:r>
            <a:endParaRPr lang="en-US" sz="24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  <a:p>
            <a:pPr algn="just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T Firs Neue Bold" panose="02000803030000020004"/>
                <a:ea typeface="TT Firs Neue Bold" panose="02000803030000020004"/>
                <a:cs typeface="TT Firs Neue Bold" panose="02000803030000020004"/>
                <a:sym typeface="TT Firs Neue Bold" panose="02000803030000020004"/>
              </a:rPr>
              <a:t>Solution : </a:t>
            </a:r>
            <a:r>
              <a:rPr lang="en-US" sz="24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Allowing the app to discover the ESP32 device by name automatically without requiring the user to know or enter IP addresses</a:t>
            </a:r>
            <a:endParaRPr lang="en-US" sz="24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703624" y="7121874"/>
            <a:ext cx="4464248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C++ Code in controlling ESP32 board</a:t>
            </a:r>
            <a:endParaRPr lang="en-US" sz="20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(System Response)</a:t>
            </a:r>
            <a:endParaRPr lang="en-US" sz="20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258915" y="7272686"/>
            <a:ext cx="3268266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Flutter Code in app control</a:t>
            </a:r>
            <a:endParaRPr lang="en-US" sz="20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(User Action)</a:t>
            </a:r>
            <a:endParaRPr lang="en-US" sz="20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52961" y="1564000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0">
            <a:off x="14481566" y="-56421"/>
            <a:ext cx="3038915" cy="10675724"/>
            <a:chOff x="0" y="0"/>
            <a:chExt cx="800373" cy="281171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00373" cy="2811713"/>
            </a:xfrm>
            <a:custGeom>
              <a:avLst/>
              <a:gdLst/>
              <a:ahLst/>
              <a:cxnLst/>
              <a:rect l="l" t="t" r="r" b="b"/>
              <a:pathLst>
                <a:path w="800373" h="2811713">
                  <a:moveTo>
                    <a:pt x="0" y="0"/>
                  </a:moveTo>
                  <a:lnTo>
                    <a:pt x="800373" y="0"/>
                  </a:lnTo>
                  <a:lnTo>
                    <a:pt x="800373" y="2811713"/>
                  </a:lnTo>
                  <a:lnTo>
                    <a:pt x="0" y="2811713"/>
                  </a:lnTo>
                  <a:close/>
                </a:path>
              </a:pathLst>
            </a:custGeom>
            <a:solidFill>
              <a:srgbClr val="A6A6A6">
                <a:alpha val="27843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00373" cy="28593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1939517" y="9555565"/>
            <a:ext cx="13237959" cy="9525"/>
          </a:xfrm>
          <a:prstGeom prst="line">
            <a:avLst/>
          </a:prstGeom>
          <a:ln w="19050" cap="flat">
            <a:solidFill>
              <a:srgbClr val="545454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776722" y="3830027"/>
            <a:ext cx="10390863" cy="4055493"/>
          </a:xfrm>
          <a:custGeom>
            <a:avLst/>
            <a:gdLst/>
            <a:ahLst/>
            <a:cxnLst/>
            <a:rect l="l" t="t" r="r" b="b"/>
            <a:pathLst>
              <a:path w="10390863" h="4055493">
                <a:moveTo>
                  <a:pt x="0" y="0"/>
                </a:moveTo>
                <a:lnTo>
                  <a:pt x="10390863" y="0"/>
                </a:lnTo>
                <a:lnTo>
                  <a:pt x="10390863" y="4055493"/>
                </a:lnTo>
                <a:lnTo>
                  <a:pt x="0" y="405549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r="-34287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597446" y="718185"/>
            <a:ext cx="8342647" cy="53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Code Implementation</a:t>
            </a:r>
            <a:endParaRPr lang="en-US" sz="3000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512421" y="9409197"/>
            <a:ext cx="97720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Page 06</a:t>
            </a:r>
            <a:endParaRPr lang="en-US" sz="16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52961" y="1506850"/>
            <a:ext cx="13924515" cy="300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 </a:t>
            </a:r>
            <a:endParaRPr lang="en-US" sz="26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Secure WiFi Provisioning</a:t>
            </a:r>
            <a:endParaRPr lang="en-US" sz="26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  <a:p>
            <a:pPr marL="518160" lvl="1" indent="-25908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A</a:t>
            </a:r>
            <a:r>
              <a:rPr lang="en-US" sz="24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pp is used to securely transmit the network name and password to the device. Once it receives this information, the LED  Panel connects to the network and operates independently</a:t>
            </a:r>
            <a:endParaRPr lang="en-US" sz="24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52961" y="1564000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0">
            <a:off x="14481566" y="-56421"/>
            <a:ext cx="3038915" cy="10675724"/>
            <a:chOff x="0" y="0"/>
            <a:chExt cx="800373" cy="281171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00373" cy="2811713"/>
            </a:xfrm>
            <a:custGeom>
              <a:avLst/>
              <a:gdLst/>
              <a:ahLst/>
              <a:cxnLst/>
              <a:rect l="l" t="t" r="r" b="b"/>
              <a:pathLst>
                <a:path w="800373" h="2811713">
                  <a:moveTo>
                    <a:pt x="0" y="0"/>
                  </a:moveTo>
                  <a:lnTo>
                    <a:pt x="800373" y="0"/>
                  </a:lnTo>
                  <a:lnTo>
                    <a:pt x="800373" y="2811713"/>
                  </a:lnTo>
                  <a:lnTo>
                    <a:pt x="0" y="2811713"/>
                  </a:lnTo>
                  <a:close/>
                </a:path>
              </a:pathLst>
            </a:custGeom>
            <a:solidFill>
              <a:srgbClr val="A6A6A6">
                <a:alpha val="27843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00373" cy="28593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1939517" y="9555565"/>
            <a:ext cx="13237959" cy="9525"/>
          </a:xfrm>
          <a:prstGeom prst="line">
            <a:avLst/>
          </a:prstGeom>
          <a:ln w="19050" cap="flat">
            <a:solidFill>
              <a:srgbClr val="545454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252961" y="4275067"/>
            <a:ext cx="13228605" cy="3080634"/>
          </a:xfrm>
          <a:custGeom>
            <a:avLst/>
            <a:gdLst/>
            <a:ahLst/>
            <a:cxnLst/>
            <a:rect l="l" t="t" r="r" b="b"/>
            <a:pathLst>
              <a:path w="13228605" h="3080634">
                <a:moveTo>
                  <a:pt x="0" y="0"/>
                </a:moveTo>
                <a:lnTo>
                  <a:pt x="13228605" y="0"/>
                </a:lnTo>
                <a:lnTo>
                  <a:pt x="13228605" y="3080634"/>
                </a:lnTo>
                <a:lnTo>
                  <a:pt x="0" y="30806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597446" y="718185"/>
            <a:ext cx="8342647" cy="53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Code Implementation</a:t>
            </a:r>
            <a:endParaRPr lang="en-US" sz="3000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512421" y="9409197"/>
            <a:ext cx="97720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Page 06</a:t>
            </a:r>
            <a:endParaRPr lang="en-US" sz="16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52961" y="1830700"/>
            <a:ext cx="13924515" cy="250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 </a:t>
            </a:r>
            <a:endParaRPr lang="en-US" sz="24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Color mixing Algorithm</a:t>
            </a:r>
            <a:endParaRPr lang="en-US" sz="24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  <a:p>
            <a:pPr marL="518160" lvl="1" indent="-25908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Ratio Balancing: Dynamically adjusts channel ratios to ensure total brightness remains constant while shifting color temperature</a:t>
            </a:r>
            <a:endParaRPr lang="en-US" sz="24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52961" y="1564000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0">
            <a:off x="14481566" y="-56421"/>
            <a:ext cx="3038915" cy="10675724"/>
            <a:chOff x="0" y="0"/>
            <a:chExt cx="800373" cy="281171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00373" cy="2811713"/>
            </a:xfrm>
            <a:custGeom>
              <a:avLst/>
              <a:gdLst/>
              <a:ahLst/>
              <a:cxnLst/>
              <a:rect l="l" t="t" r="r" b="b"/>
              <a:pathLst>
                <a:path w="800373" h="2811713">
                  <a:moveTo>
                    <a:pt x="0" y="0"/>
                  </a:moveTo>
                  <a:lnTo>
                    <a:pt x="800373" y="0"/>
                  </a:lnTo>
                  <a:lnTo>
                    <a:pt x="800373" y="2811713"/>
                  </a:lnTo>
                  <a:lnTo>
                    <a:pt x="0" y="2811713"/>
                  </a:lnTo>
                  <a:close/>
                </a:path>
              </a:pathLst>
            </a:custGeom>
            <a:solidFill>
              <a:srgbClr val="A6A6A6">
                <a:alpha val="27843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00373" cy="28593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1939517" y="9555565"/>
            <a:ext cx="13237959" cy="9525"/>
          </a:xfrm>
          <a:prstGeom prst="line">
            <a:avLst/>
          </a:prstGeom>
          <a:ln w="19050" cap="flat">
            <a:solidFill>
              <a:srgbClr val="545454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252961" y="4331965"/>
            <a:ext cx="13228605" cy="2653356"/>
          </a:xfrm>
          <a:custGeom>
            <a:avLst/>
            <a:gdLst/>
            <a:ahLst/>
            <a:cxnLst/>
            <a:rect l="l" t="t" r="r" b="b"/>
            <a:pathLst>
              <a:path w="13228605" h="2653356">
                <a:moveTo>
                  <a:pt x="0" y="0"/>
                </a:moveTo>
                <a:lnTo>
                  <a:pt x="13228605" y="0"/>
                </a:lnTo>
                <a:lnTo>
                  <a:pt x="13228605" y="2653356"/>
                </a:lnTo>
                <a:lnTo>
                  <a:pt x="0" y="265335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597446" y="718185"/>
            <a:ext cx="8342647" cy="53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Code Implementation</a:t>
            </a:r>
            <a:endParaRPr lang="en-US" sz="3000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512421" y="9409197"/>
            <a:ext cx="97720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Page 06</a:t>
            </a:r>
            <a:endParaRPr lang="en-US" sz="16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52961" y="1830700"/>
            <a:ext cx="13924515" cy="2920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 </a:t>
            </a:r>
            <a:endParaRPr lang="en-US" sz="24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Flash Memory Protection</a:t>
            </a:r>
            <a:endParaRPr lang="en-US" sz="24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  <a:p>
            <a:pPr marL="518160" lvl="1" indent="-25908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If</a:t>
            </a:r>
            <a:r>
              <a:rPr lang="en-US" sz="24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 a user slides the brightness bar rapidly in the app, the device doesn't write to memory 50 times a second (which would crash it or burn the chip). It waits until the user stops adjusting to save the final state</a:t>
            </a:r>
            <a:endParaRPr lang="en-US" sz="24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26073" y="-860347"/>
            <a:ext cx="18414073" cy="4469249"/>
            <a:chOff x="0" y="0"/>
            <a:chExt cx="2833290" cy="6876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33290" cy="687663"/>
            </a:xfrm>
            <a:custGeom>
              <a:avLst/>
              <a:gdLst/>
              <a:ahLst/>
              <a:cxnLst/>
              <a:rect l="l" t="t" r="r" b="b"/>
              <a:pathLst>
                <a:path w="2833290" h="687663">
                  <a:moveTo>
                    <a:pt x="42043" y="0"/>
                  </a:moveTo>
                  <a:lnTo>
                    <a:pt x="2791246" y="0"/>
                  </a:lnTo>
                  <a:cubicBezTo>
                    <a:pt x="2814466" y="0"/>
                    <a:pt x="2833290" y="18824"/>
                    <a:pt x="2833290" y="42043"/>
                  </a:cubicBezTo>
                  <a:lnTo>
                    <a:pt x="2833290" y="645620"/>
                  </a:lnTo>
                  <a:cubicBezTo>
                    <a:pt x="2833290" y="668840"/>
                    <a:pt x="2814466" y="687663"/>
                    <a:pt x="2791246" y="687663"/>
                  </a:cubicBezTo>
                  <a:lnTo>
                    <a:pt x="42043" y="687663"/>
                  </a:lnTo>
                  <a:cubicBezTo>
                    <a:pt x="18824" y="687663"/>
                    <a:pt x="0" y="668840"/>
                    <a:pt x="0" y="645620"/>
                  </a:cubicBezTo>
                  <a:lnTo>
                    <a:pt x="0" y="42043"/>
                  </a:lnTo>
                  <a:cubicBezTo>
                    <a:pt x="0" y="18824"/>
                    <a:pt x="18824" y="0"/>
                    <a:pt x="42043" y="0"/>
                  </a:cubicBezTo>
                  <a:close/>
                </a:path>
              </a:pathLst>
            </a:custGeom>
            <a:blipFill>
              <a:blip r:embed="rId1">
                <a:alphaModFix amt="36000"/>
              </a:blip>
              <a:stretch>
                <a:fillRect t="-161333" b="-297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 flipV="1">
            <a:off x="1939517" y="9555565"/>
            <a:ext cx="13237959" cy="9525"/>
          </a:xfrm>
          <a:prstGeom prst="line">
            <a:avLst/>
          </a:prstGeom>
          <a:ln w="19050" cap="flat">
            <a:solidFill>
              <a:srgbClr val="545454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882227" y="1000125"/>
            <a:ext cx="10901384" cy="784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spc="-275">
                <a:solidFill>
                  <a:srgbClr val="0B0A0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Future Improvements</a:t>
            </a:r>
            <a:endParaRPr lang="en-US" sz="5000" spc="-275">
              <a:solidFill>
                <a:srgbClr val="0B0A0A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91775" y="3257738"/>
            <a:ext cx="12860722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The app could be programmed to automatically shift the color temperature throughout th</a:t>
            </a:r>
            <a:r>
              <a:rPr lang="en-US" sz="2000">
                <a:solidFill>
                  <a:srgbClr val="0B0A0A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e day using cool blue light in the morning for alertness and warm amber light in the evening to reduce blue light exposure before sleep</a:t>
            </a:r>
            <a:endParaRPr lang="en-US" sz="2000">
              <a:solidFill>
                <a:srgbClr val="0B0A0A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91775" y="5327614"/>
            <a:ext cx="12957465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Implementing the ESP32’s Deep Sleep mode would significantly reduce power consumption when the lamp is not in use but still ne</a:t>
            </a:r>
            <a:r>
              <a:rPr lang="en-US" sz="2000">
                <a:solidFill>
                  <a:srgbClr val="0B0A0A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eds to stay connected to the network</a:t>
            </a:r>
            <a:endParaRPr lang="en-US" sz="2000">
              <a:solidFill>
                <a:srgbClr val="0B0A0A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91775" y="2777113"/>
            <a:ext cx="7247128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B0A0A"/>
                </a:solidFill>
                <a:latin typeface="TT Firs Neue Bold" panose="02000803030000020004"/>
                <a:ea typeface="TT Firs Neue Bold" panose="02000803030000020004"/>
                <a:cs typeface="TT Firs Neue Bold" panose="02000803030000020004"/>
                <a:sym typeface="TT Firs Neue Bold" panose="02000803030000020004"/>
              </a:rPr>
              <a:t>Automatic Color Temperature Adjustment</a:t>
            </a:r>
            <a:endParaRPr lang="en-US" sz="2400" b="1">
              <a:solidFill>
                <a:srgbClr val="0B0A0A"/>
              </a:solidFill>
              <a:latin typeface="TT Firs Neue Bold" panose="02000803030000020004"/>
              <a:ea typeface="TT Firs Neue Bold" panose="02000803030000020004"/>
              <a:cs typeface="TT Firs Neue Bold" panose="02000803030000020004"/>
              <a:sym typeface="TT Firs Neue Bold" panose="020008030300000200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91775" y="4845649"/>
            <a:ext cx="478802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B0A0A"/>
                </a:solidFill>
                <a:latin typeface="TT Firs Neue Bold" panose="02000803030000020004"/>
                <a:ea typeface="TT Firs Neue Bold" panose="02000803030000020004"/>
                <a:cs typeface="TT Firs Neue Bold" panose="02000803030000020004"/>
                <a:sym typeface="TT Firs Neue Bold" panose="02000803030000020004"/>
              </a:rPr>
              <a:t>Advanced Power Management</a:t>
            </a:r>
            <a:endParaRPr lang="en-US" sz="2400" b="1">
              <a:solidFill>
                <a:srgbClr val="0B0A0A"/>
              </a:solidFill>
              <a:latin typeface="TT Firs Neue Bold" panose="02000803030000020004"/>
              <a:ea typeface="TT Firs Neue Bold" panose="02000803030000020004"/>
              <a:cs typeface="TT Firs Neue Bold" panose="02000803030000020004"/>
              <a:sym typeface="TT Firs Neue Bold" panose="020008030300000200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512421" y="9409197"/>
            <a:ext cx="97720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Page 04</a:t>
            </a:r>
            <a:endParaRPr lang="en-US" sz="1600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91775" y="7184209"/>
            <a:ext cx="12957465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If multiple Lumi-Flex units are used in a larger space, a Wi-Fi Mesh protocol could allow them to communicate with each other and act as a single</a:t>
            </a:r>
            <a:r>
              <a:rPr lang="en-US" sz="2000">
                <a:solidFill>
                  <a:srgbClr val="0B0A0A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 synchronized system.</a:t>
            </a:r>
            <a:endParaRPr lang="en-US" sz="2000">
              <a:solidFill>
                <a:srgbClr val="0B0A0A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91775" y="6702244"/>
            <a:ext cx="478802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B0A0A"/>
                </a:solidFill>
                <a:latin typeface="TT Firs Neue Bold" panose="02000803030000020004"/>
                <a:ea typeface="TT Firs Neue Bold" panose="02000803030000020004"/>
                <a:cs typeface="TT Firs Neue Bold" panose="02000803030000020004"/>
                <a:sym typeface="TT Firs Neue Bold" panose="02000803030000020004"/>
              </a:rPr>
              <a:t>Mesh Networking</a:t>
            </a:r>
            <a:endParaRPr lang="en-US" sz="2400" b="1">
              <a:solidFill>
                <a:srgbClr val="0B0A0A"/>
              </a:solidFill>
              <a:latin typeface="TT Firs Neue Bold" panose="02000803030000020004"/>
              <a:ea typeface="TT Firs Neue Bold" panose="02000803030000020004"/>
              <a:cs typeface="TT Firs Neue Bold" panose="02000803030000020004"/>
              <a:sym typeface="TT Firs Neue Bold" panose="020008030300000200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939517" y="9555565"/>
            <a:ext cx="13237959" cy="9525"/>
          </a:xfrm>
          <a:prstGeom prst="line">
            <a:avLst/>
          </a:prstGeom>
          <a:ln w="19050" cap="flat">
            <a:solidFill>
              <a:srgbClr val="545454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6078654" y="3662150"/>
            <a:ext cx="5265184" cy="1068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Thank you </a:t>
            </a:r>
            <a:endParaRPr lang="en-US" sz="6800" spc="-374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538863" y="5238750"/>
            <a:ext cx="9893298" cy="530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75"/>
              </a:lnSpc>
            </a:pPr>
            <a:r>
              <a:rPr lang="en-US" sz="2500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W</a:t>
            </a:r>
            <a:r>
              <a:rPr lang="en-US" sz="2500" u="none" strike="noStrike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e </a:t>
            </a:r>
            <a:r>
              <a:rPr lang="en-US" sz="2500" u="none" strike="noStrike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a</a:t>
            </a:r>
            <a:r>
              <a:rPr lang="en-US" sz="2500" u="none" strike="noStrike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p</a:t>
            </a:r>
            <a:r>
              <a:rPr lang="en-US" sz="2500" u="none" strike="noStrike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preciate</a:t>
            </a:r>
            <a:r>
              <a:rPr lang="en-US" sz="2500" u="none" strike="noStrike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 </a:t>
            </a:r>
            <a:r>
              <a:rPr lang="en-US" sz="2500" u="none" strike="noStrike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y</a:t>
            </a:r>
            <a:r>
              <a:rPr lang="en-US" sz="2500" u="none" strike="noStrike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o</a:t>
            </a:r>
            <a:r>
              <a:rPr lang="en-US" sz="2500" u="none" strike="noStrike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u</a:t>
            </a:r>
            <a:r>
              <a:rPr lang="en-US" sz="2500" u="none" strike="noStrike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r t</a:t>
            </a:r>
            <a:r>
              <a:rPr lang="en-US" sz="2500" u="none" strike="noStrike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i</a:t>
            </a:r>
            <a:r>
              <a:rPr lang="en-US" sz="2500" u="none" strike="noStrike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me </a:t>
            </a:r>
            <a:r>
              <a:rPr lang="en-US" sz="2500" u="none" strike="noStrike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a</a:t>
            </a:r>
            <a:r>
              <a:rPr lang="en-US" sz="2500" u="none" strike="noStrike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n</a:t>
            </a:r>
            <a:r>
              <a:rPr lang="en-US" sz="2500" u="none" strike="noStrike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d at</a:t>
            </a:r>
            <a:r>
              <a:rPr lang="en-US" sz="2500" u="none" strike="noStrike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te</a:t>
            </a:r>
            <a:r>
              <a:rPr lang="en-US" sz="2500" u="none" strike="noStrike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n</a:t>
            </a:r>
            <a:r>
              <a:rPr lang="en-US" sz="2500" u="none" strike="noStrike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ti</a:t>
            </a:r>
            <a:r>
              <a:rPr lang="en-US" sz="2500" u="none" strike="noStrike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o</a:t>
            </a:r>
            <a:r>
              <a:rPr lang="en-US" sz="2500" u="none" strike="noStrike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n</a:t>
            </a:r>
            <a:r>
              <a:rPr lang="en-US" sz="2500" u="none" strike="noStrike">
                <a:solidFill>
                  <a:srgbClr val="000000"/>
                </a:solidFill>
                <a:latin typeface="TT Firs Neue" panose="02000503030000020004"/>
                <a:ea typeface="TT Firs Neue" panose="02000503030000020004"/>
                <a:cs typeface="TT Firs Neue" panose="02000503030000020004"/>
                <a:sym typeface="TT Firs Neue" panose="02000503030000020004"/>
              </a:rPr>
              <a:t>.</a:t>
            </a:r>
            <a:endParaRPr lang="en-US" sz="2500" u="none" strike="noStrike">
              <a:solidFill>
                <a:srgbClr val="000000"/>
              </a:solidFill>
              <a:latin typeface="TT Firs Neue" panose="02000503030000020004"/>
              <a:ea typeface="TT Firs Neue" panose="02000503030000020004"/>
              <a:cs typeface="TT Firs Neue" panose="02000503030000020004"/>
              <a:sym typeface="TT Firs Neue" panose="02000503030000020004"/>
            </a:endParaRPr>
          </a:p>
          <a:p>
            <a:pPr marL="0" lvl="1" indent="0" algn="ctr">
              <a:lnSpc>
                <a:spcPts val="1975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4089</Words>
  <Application>WPS Presentation</Application>
  <PresentationFormat>On-screen Show (4:3)</PresentationFormat>
  <Paragraphs>177</Paragraphs>
  <Slides>16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SimSun</vt:lpstr>
      <vt:lpstr>Wingdings</vt:lpstr>
      <vt:lpstr>Heading Now 71-78</vt:lpstr>
      <vt:lpstr>TT Firs Neue</vt:lpstr>
      <vt:lpstr>TT Firs Neue Bold</vt:lpstr>
      <vt:lpstr>Arial</vt:lpstr>
      <vt:lpstr>Calibri</vt:lpstr>
      <vt:lpstr>Microsoft YaHei</vt:lpstr>
      <vt:lpstr>Arial Unicode MS</vt:lpstr>
      <vt:lpstr>Agency FB</vt:lpstr>
      <vt:lpstr>Office Theme</vt:lpstr>
      <vt:lpstr>Excel.Sheet.12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08</dc:title>
  <dc:creator/>
  <cp:lastModifiedBy>T.M.S.S. THENNAKOON</cp:lastModifiedBy>
  <cp:revision>2</cp:revision>
  <dcterms:created xsi:type="dcterms:W3CDTF">2006-08-16T00:00:00Z</dcterms:created>
  <dcterms:modified xsi:type="dcterms:W3CDTF">2025-12-31T04:37:38Z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EB8E112D4EEB4B7E84579CD3A142858F_12</vt:lpwstr>
  </property>
  <property fmtid="{D5CDD505-2E9C-101B-9397-08002B2CF9AE}" pid="3" name="KSOProductBuildVer">
    <vt:lpwstr>1033-12.2.0.23196</vt:lpwstr>
  </property>
</Properties>
</file>